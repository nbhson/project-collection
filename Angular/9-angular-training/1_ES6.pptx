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13"/>
  </p:notesMasterIdLst>
  <p:sldIdLst>
    <p:sldId id="256" r:id="rId2"/>
    <p:sldId id="259" r:id="rId3"/>
    <p:sldId id="354" r:id="rId4"/>
    <p:sldId id="262" r:id="rId5"/>
    <p:sldId id="373" r:id="rId6"/>
    <p:sldId id="343" r:id="rId7"/>
    <p:sldId id="344" r:id="rId8"/>
    <p:sldId id="345" r:id="rId9"/>
    <p:sldId id="349" r:id="rId10"/>
    <p:sldId id="351" r:id="rId11"/>
    <p:sldId id="276" r:id="rId12"/>
  </p:sldIdLst>
  <p:sldSz cx="9144000" cy="5143500" type="screen16x9"/>
  <p:notesSz cx="6858000" cy="9144000"/>
  <p:embeddedFontLst>
    <p:embeddedFont>
      <p:font typeface="Anonymous Pro" panose="020B0604020202020204" charset="0"/>
      <p:regular r:id="rId14"/>
      <p:bold r:id="rId15"/>
      <p:italic r:id="rId16"/>
      <p:boldItalic r:id="rId17"/>
    </p:embeddedFont>
    <p:embeddedFont>
      <p:font typeface="Coming Soon" panose="020B0604020202020204" charset="0"/>
      <p:regular r:id="rId18"/>
    </p:embeddedFont>
    <p:embeddedFont>
      <p:font typeface="Roboto Mono Medium" panose="020B0604020202020204" charset="0"/>
      <p:regular r:id="rId19"/>
      <p:bold r:id="rId20"/>
      <p:italic r:id="rId21"/>
      <p:boldItalic r:id="rId22"/>
    </p:embeddedFont>
    <p:embeddedFont>
      <p:font typeface="Concert One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BC47C2-E912-4939-9D11-1E96352DCCD1}">
  <a:tblStyle styleId="{E4BC47C2-E912-4939-9D11-1E96352DCC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209571f4d9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1209571f4d9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485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5522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3838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020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211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4928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240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853034354b_0_24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853034354b_0_24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1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4748475" y="48065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1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5339025" y="5954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1"/>
          <p:cNvPicPr preferRelativeResize="0"/>
          <p:nvPr/>
        </p:nvPicPr>
        <p:blipFill rotWithShape="1">
          <a:blip r:embed="rId4">
            <a:alphaModFix/>
          </a:blip>
          <a:srcRect b="7123"/>
          <a:stretch/>
        </p:blipFill>
        <p:spPr>
          <a:xfrm>
            <a:off x="1974100" y="324738"/>
            <a:ext cx="5195775" cy="44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 txBox="1">
            <a:spLocks noGrp="1"/>
          </p:cNvSpPr>
          <p:nvPr>
            <p:ph type="title" hasCustomPrompt="1"/>
          </p:nvPr>
        </p:nvSpPr>
        <p:spPr>
          <a:xfrm>
            <a:off x="2838275" y="1645347"/>
            <a:ext cx="40017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3335675" y="3062950"/>
            <a:ext cx="30069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1002325" y="711175"/>
            <a:ext cx="30822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7" r:id="rId3"/>
    <p:sldLayoutId id="2147483658" r:id="rId4"/>
    <p:sldLayoutId id="2147483668" r:id="rId5"/>
    <p:sldLayoutId id="2147483672" r:id="rId6"/>
    <p:sldLayoutId id="2147483687" r:id="rId7"/>
    <p:sldLayoutId id="2147483688" r:id="rId8"/>
    <p:sldLayoutId id="2147483689" r:id="rId9"/>
    <p:sldLayoutId id="2147483690" r:id="rId10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 ANGULAR         FRAMEWORK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11" name="Google Shape;311;p48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Here starts the lesson!</a:t>
            </a:r>
            <a:endParaRPr b="0" dirty="0"/>
          </a:p>
        </p:txBody>
      </p:sp>
      <p:sp>
        <p:nvSpPr>
          <p:cNvPr id="312" name="Google Shape;312;p48"/>
          <p:cNvSpPr/>
          <p:nvPr/>
        </p:nvSpPr>
        <p:spPr>
          <a:xfrm>
            <a:off x="1889900" y="2918254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3" name="Google Shape;313;p48"/>
          <p:cNvSpPr/>
          <p:nvPr/>
        </p:nvSpPr>
        <p:spPr>
          <a:xfrm>
            <a:off x="6707528" y="2911367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4" name="Google Shape;314;p48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315" name="Google Shape;315;p48"/>
          <p:cNvPicPr preferRelativeResize="0"/>
          <p:nvPr/>
        </p:nvPicPr>
        <p:blipFill rotWithShape="1">
          <a:blip r:embed="rId3">
            <a:alphaModFix/>
          </a:blip>
          <a:srcRect t="16970" r="8892" b="21025"/>
          <a:stretch/>
        </p:blipFill>
        <p:spPr>
          <a:xfrm>
            <a:off x="6539175" y="3603223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8"/>
          <p:cNvPicPr preferRelativeResize="0"/>
          <p:nvPr/>
        </p:nvPicPr>
        <p:blipFill rotWithShape="1">
          <a:blip r:embed="rId4">
            <a:alphaModFix/>
          </a:blip>
          <a:srcRect t="16734" r="8892" b="18300"/>
          <a:stretch/>
        </p:blipFill>
        <p:spPr>
          <a:xfrm>
            <a:off x="6539175" y="3055100"/>
            <a:ext cx="2036850" cy="846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222090" y="2550900"/>
            <a:ext cx="4798141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ECMAScript </a:t>
            </a:r>
            <a:endParaRPr dirty="0"/>
          </a:p>
        </p:txBody>
      </p:sp>
      <p:sp>
        <p:nvSpPr>
          <p:cNvPr id="349" name="Google Shape;349;p51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 smtClean="0"/>
              <a:t>(ES2015)</a:t>
            </a:r>
            <a:endParaRPr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3"/>
          <p:cNvSpPr txBox="1">
            <a:spLocks noGrp="1"/>
          </p:cNvSpPr>
          <p:nvPr>
            <p:ph type="title"/>
          </p:nvPr>
        </p:nvSpPr>
        <p:spPr>
          <a:xfrm>
            <a:off x="791138" y="711175"/>
            <a:ext cx="3392111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learning process</a:t>
            </a:r>
            <a:endParaRPr dirty="0"/>
          </a:p>
        </p:txBody>
      </p:sp>
      <p:sp>
        <p:nvSpPr>
          <p:cNvPr id="721" name="Google Shape;721;p73"/>
          <p:cNvSpPr txBox="1">
            <a:spLocks noGrp="1"/>
          </p:cNvSpPr>
          <p:nvPr>
            <p:ph type="subTitle" idx="4294967295"/>
          </p:nvPr>
        </p:nvSpPr>
        <p:spPr>
          <a:xfrm>
            <a:off x="2205650" y="2765738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dk2"/>
                </a:solidFill>
              </a:rPr>
              <a:t>Arrow function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2" name="Google Shape;722;p73"/>
          <p:cNvSpPr txBox="1">
            <a:spLocks noGrp="1"/>
          </p:cNvSpPr>
          <p:nvPr>
            <p:ph type="subTitle" idx="4294967295"/>
          </p:nvPr>
        </p:nvSpPr>
        <p:spPr>
          <a:xfrm>
            <a:off x="6442524" y="1896775"/>
            <a:ext cx="2313287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sz="1400" dirty="0" err="1">
                <a:solidFill>
                  <a:schemeClr val="dk2"/>
                </a:solidFill>
              </a:rPr>
              <a:t>Destructuring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dk2"/>
                </a:solidFill>
              </a:rPr>
              <a:t>&amp; Rest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3" name="Google Shape;723;p73"/>
          <p:cNvSpPr txBox="1">
            <a:spLocks noGrp="1"/>
          </p:cNvSpPr>
          <p:nvPr>
            <p:ph type="subTitle" idx="4294967295"/>
          </p:nvPr>
        </p:nvSpPr>
        <p:spPr>
          <a:xfrm>
            <a:off x="2205650" y="1896775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dk2"/>
                </a:solidFill>
              </a:rPr>
              <a:t>Template string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4" name="Google Shape;724;p73"/>
          <p:cNvSpPr txBox="1">
            <a:spLocks noGrp="1"/>
          </p:cNvSpPr>
          <p:nvPr>
            <p:ph type="subTitle" idx="4294967295"/>
          </p:nvPr>
        </p:nvSpPr>
        <p:spPr>
          <a:xfrm>
            <a:off x="2205655" y="3634700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dk2"/>
                </a:solidFill>
              </a:rPr>
              <a:t>Scoped variable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5" name="Google Shape;725;p73"/>
          <p:cNvSpPr txBox="1">
            <a:spLocks noGrp="1"/>
          </p:cNvSpPr>
          <p:nvPr>
            <p:ph type="subTitle" idx="4294967295"/>
          </p:nvPr>
        </p:nvSpPr>
        <p:spPr>
          <a:xfrm>
            <a:off x="6442525" y="2765738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smtClean="0">
                <a:solidFill>
                  <a:schemeClr val="dk2"/>
                </a:solidFill>
              </a:rPr>
              <a:t>Speard operator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7" name="Google Shape;727;p73"/>
          <p:cNvSpPr txBox="1">
            <a:spLocks noGrp="1"/>
          </p:cNvSpPr>
          <p:nvPr>
            <p:ph type="subTitle" idx="4294967295"/>
          </p:nvPr>
        </p:nvSpPr>
        <p:spPr>
          <a:xfrm>
            <a:off x="791138" y="189677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1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8" name="Google Shape;728;p73"/>
          <p:cNvSpPr txBox="1">
            <a:spLocks noGrp="1"/>
          </p:cNvSpPr>
          <p:nvPr>
            <p:ph type="subTitle" idx="4294967295"/>
          </p:nvPr>
        </p:nvSpPr>
        <p:spPr>
          <a:xfrm>
            <a:off x="791138" y="2765750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2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9" name="Google Shape;729;p73"/>
          <p:cNvSpPr txBox="1">
            <a:spLocks noGrp="1"/>
          </p:cNvSpPr>
          <p:nvPr>
            <p:ph type="subTitle" idx="4294967295"/>
          </p:nvPr>
        </p:nvSpPr>
        <p:spPr>
          <a:xfrm>
            <a:off x="791138" y="363472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3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30" name="Google Shape;730;p73"/>
          <p:cNvSpPr txBox="1">
            <a:spLocks noGrp="1"/>
          </p:cNvSpPr>
          <p:nvPr>
            <p:ph type="subTitle" idx="4294967295"/>
          </p:nvPr>
        </p:nvSpPr>
        <p:spPr>
          <a:xfrm>
            <a:off x="5028113" y="189677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4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31" name="Google Shape;731;p73"/>
          <p:cNvSpPr txBox="1">
            <a:spLocks noGrp="1"/>
          </p:cNvSpPr>
          <p:nvPr>
            <p:ph type="subTitle" idx="4294967295"/>
          </p:nvPr>
        </p:nvSpPr>
        <p:spPr>
          <a:xfrm>
            <a:off x="5028113" y="2765750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5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cxnSp>
        <p:nvCxnSpPr>
          <p:cNvPr id="733" name="Google Shape;733;p73"/>
          <p:cNvCxnSpPr/>
          <p:nvPr/>
        </p:nvCxnSpPr>
        <p:spPr>
          <a:xfrm>
            <a:off x="1805279" y="189677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73"/>
          <p:cNvCxnSpPr/>
          <p:nvPr/>
        </p:nvCxnSpPr>
        <p:spPr>
          <a:xfrm>
            <a:off x="6031010" y="189677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5" name="Google Shape;7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2979214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384818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844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844" y="2979214"/>
            <a:ext cx="744301" cy="1331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4534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79" y="2201621"/>
            <a:ext cx="6403174" cy="17206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07895" y="274945"/>
            <a:ext cx="6605326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 smtClean="0"/>
              <a:t>1. Template string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1325003" y="914031"/>
            <a:ext cx="6244017" cy="106182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lvl="0"/>
            <a:r>
              <a:rPr lang="en-US" b="1" u="sng" dirty="0" smtClean="0"/>
              <a:t>Interpolation expression: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A </a:t>
            </a:r>
            <a:r>
              <a:rPr lang="en-US" dirty="0"/>
              <a:t>template string is represented by a pair of </a:t>
            </a:r>
            <a:r>
              <a:rPr lang="en-US" dirty="0" err="1"/>
              <a:t>backticks</a:t>
            </a:r>
            <a:r>
              <a:rPr lang="en-US" dirty="0"/>
              <a:t> </a:t>
            </a:r>
            <a:r>
              <a:rPr lang="en-US" dirty="0" smtClean="0"/>
              <a:t>(`)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The </a:t>
            </a:r>
            <a:r>
              <a:rPr lang="en-US" dirty="0"/>
              <a:t>syntax of a template string allows </a:t>
            </a:r>
            <a:r>
              <a:rPr lang="en-US" dirty="0" smtClean="0"/>
              <a:t>the </a:t>
            </a:r>
            <a:r>
              <a:rPr lang="en-US" dirty="0"/>
              <a:t>use of JavaScript </a:t>
            </a:r>
            <a:r>
              <a:rPr lang="en-US" dirty="0" smtClean="0"/>
              <a:t>expressions </a:t>
            </a:r>
          </a:p>
          <a:p>
            <a:r>
              <a:rPr lang="en-US" dirty="0" smtClean="0"/>
              <a:t>in </a:t>
            </a:r>
            <a:r>
              <a:rPr lang="en-US" dirty="0"/>
              <a:t>a string by enclosing them in </a:t>
            </a:r>
            <a:r>
              <a:rPr lang="en-US" dirty="0" smtClean="0"/>
              <a:t>`${}`.</a:t>
            </a:r>
            <a:endParaRPr lang="en-US" dirty="0"/>
          </a:p>
        </p:txBody>
      </p:sp>
      <p:sp>
        <p:nvSpPr>
          <p:cNvPr id="23" name="Google Shape;360;p52"/>
          <p:cNvSpPr/>
          <p:nvPr/>
        </p:nvSpPr>
        <p:spPr>
          <a:xfrm rot="-2148808">
            <a:off x="1453151" y="214009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4" name="Google Shape;361;p52"/>
          <p:cNvSpPr/>
          <p:nvPr/>
        </p:nvSpPr>
        <p:spPr>
          <a:xfrm rot="20964368">
            <a:off x="7736499" y="1873374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07895" y="274945"/>
            <a:ext cx="6605326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 smtClean="0"/>
              <a:t>1. Template string</a:t>
            </a:r>
            <a:endParaRPr dirty="0"/>
          </a:p>
        </p:txBody>
      </p:sp>
      <p:grpSp>
        <p:nvGrpSpPr>
          <p:cNvPr id="379" name="Google Shape;379;p54"/>
          <p:cNvGrpSpPr/>
          <p:nvPr/>
        </p:nvGrpSpPr>
        <p:grpSpPr>
          <a:xfrm rot="556319">
            <a:off x="7185089" y="887713"/>
            <a:ext cx="824184" cy="712067"/>
            <a:chOff x="2341425" y="238100"/>
            <a:chExt cx="1328900" cy="1148125"/>
          </a:xfrm>
        </p:grpSpPr>
        <p:sp>
          <p:nvSpPr>
            <p:cNvPr id="380" name="Google Shape;380;p5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9" name="Google Shape;389;p54"/>
          <p:cNvSpPr txBox="1">
            <a:spLocks noGrp="1"/>
          </p:cNvSpPr>
          <p:nvPr>
            <p:ph type="title"/>
          </p:nvPr>
        </p:nvSpPr>
        <p:spPr>
          <a:xfrm rot="20426918">
            <a:off x="7004592" y="1588795"/>
            <a:ext cx="1862352" cy="592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dirty="0" smtClean="0">
                <a:latin typeface="Roboto Mono Medium"/>
                <a:ea typeface="Roboto Mono Medium"/>
                <a:cs typeface="Roboto Mono Medium"/>
                <a:sym typeface="Roboto Mono Medium"/>
              </a:rPr>
              <a:t>Template string</a:t>
            </a:r>
            <a:endParaRPr sz="1000" b="0" i="1" dirty="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17244" y="876362"/>
            <a:ext cx="5981455" cy="8463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/>
              <a:t>Tagged Template </a:t>
            </a:r>
            <a:r>
              <a:rPr lang="en-US" b="1" u="sng" dirty="0" smtClean="0"/>
              <a:t>Literals: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ES6 </a:t>
            </a:r>
            <a:r>
              <a:rPr lang="en-US" dirty="0"/>
              <a:t>allows you to handle template strings with a </a:t>
            </a:r>
            <a:r>
              <a:rPr lang="en-US" dirty="0" smtClean="0"/>
              <a:t>function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The </a:t>
            </a:r>
            <a:r>
              <a:rPr lang="en-US" dirty="0"/>
              <a:t>return of </a:t>
            </a:r>
            <a:r>
              <a:rPr lang="en-US" dirty="0" smtClean="0"/>
              <a:t>function </a:t>
            </a:r>
            <a:r>
              <a:rPr lang="en-US" dirty="0"/>
              <a:t>can be anything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771" y="1994852"/>
            <a:ext cx="4654337" cy="2555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Google Shape;360;p52"/>
          <p:cNvSpPr/>
          <p:nvPr/>
        </p:nvSpPr>
        <p:spPr>
          <a:xfrm rot="-2148808">
            <a:off x="2220994" y="1955744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9" name="Google Shape;361;p52"/>
          <p:cNvSpPr/>
          <p:nvPr/>
        </p:nvSpPr>
        <p:spPr>
          <a:xfrm rot="20964368">
            <a:off x="6794534" y="1792970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5027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52141" y="285022"/>
            <a:ext cx="6401219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smtClean="0"/>
              <a:t>2. </a:t>
            </a:r>
            <a:r>
              <a:rPr lang="en-US" dirty="0" smtClean="0"/>
              <a:t>Arrow function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1379073" y="855440"/>
            <a:ext cx="2131044" cy="37555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Declaration function: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961" y="1293193"/>
            <a:ext cx="2704378" cy="13990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Rectangle 21"/>
          <p:cNvSpPr/>
          <p:nvPr/>
        </p:nvSpPr>
        <p:spPr>
          <a:xfrm>
            <a:off x="4486192" y="855440"/>
            <a:ext cx="2131044" cy="41549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Expression function: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058" y="1289004"/>
            <a:ext cx="3733703" cy="1396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688" y="3365803"/>
            <a:ext cx="2929548" cy="13206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5" name="Rectangle 24"/>
          <p:cNvSpPr/>
          <p:nvPr/>
        </p:nvSpPr>
        <p:spPr>
          <a:xfrm>
            <a:off x="3623202" y="2990251"/>
            <a:ext cx="2131044" cy="37555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Arrow function:</a:t>
            </a:r>
          </a:p>
        </p:txBody>
      </p:sp>
      <p:sp>
        <p:nvSpPr>
          <p:cNvPr id="26" name="Google Shape;360;p52"/>
          <p:cNvSpPr/>
          <p:nvPr/>
        </p:nvSpPr>
        <p:spPr>
          <a:xfrm rot="-2148808">
            <a:off x="1195055" y="1280165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7" name="Google Shape;360;p52"/>
          <p:cNvSpPr/>
          <p:nvPr/>
        </p:nvSpPr>
        <p:spPr>
          <a:xfrm rot="-2148808">
            <a:off x="4365016" y="1281505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8" name="Google Shape;360;p52"/>
          <p:cNvSpPr/>
          <p:nvPr/>
        </p:nvSpPr>
        <p:spPr>
          <a:xfrm rot="-2148808">
            <a:off x="3474210" y="3396170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9" name="Google Shape;361;p52"/>
          <p:cNvSpPr/>
          <p:nvPr/>
        </p:nvSpPr>
        <p:spPr>
          <a:xfrm rot="20964368">
            <a:off x="6286754" y="3134901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0" name="Google Shape;361;p52"/>
          <p:cNvSpPr/>
          <p:nvPr/>
        </p:nvSpPr>
        <p:spPr>
          <a:xfrm rot="20964368">
            <a:off x="3743733" y="1013440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1" name="Google Shape;361;p52"/>
          <p:cNvSpPr/>
          <p:nvPr/>
        </p:nvSpPr>
        <p:spPr>
          <a:xfrm rot="20964368">
            <a:off x="7988842" y="1004480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5421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07895" y="274945"/>
            <a:ext cx="6401219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smtClean="0"/>
              <a:t>2. </a:t>
            </a:r>
            <a:r>
              <a:rPr lang="en-US" dirty="0" smtClean="0"/>
              <a:t>Arrow function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1286560" y="804264"/>
            <a:ext cx="4022859" cy="170816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Syntax: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Is </a:t>
            </a:r>
            <a:r>
              <a:rPr lang="en-US" dirty="0"/>
              <a:t>a shorthand syntax for declaring a function </a:t>
            </a:r>
            <a:endParaRPr lang="en-US" dirty="0" smtClean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The </a:t>
            </a:r>
            <a:r>
              <a:rPr lang="en-US" dirty="0"/>
              <a:t>most commonly used are </a:t>
            </a:r>
            <a:r>
              <a:rPr lang="en-US" dirty="0" smtClean="0"/>
              <a:t>callbacks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Can’t be used as a constructor function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Can’t use “this” key in arrow function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206" y="2631512"/>
            <a:ext cx="2927556" cy="18128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217" y="2631512"/>
            <a:ext cx="3274141" cy="18077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6" name="Google Shape;379;p54"/>
          <p:cNvGrpSpPr/>
          <p:nvPr/>
        </p:nvGrpSpPr>
        <p:grpSpPr>
          <a:xfrm rot="556319">
            <a:off x="6758508" y="678905"/>
            <a:ext cx="824184" cy="712067"/>
            <a:chOff x="2341425" y="238100"/>
            <a:chExt cx="1328900" cy="1148125"/>
          </a:xfrm>
        </p:grpSpPr>
        <p:sp>
          <p:nvSpPr>
            <p:cNvPr id="17" name="Google Shape;380;p5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1;p5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2;p5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3;p5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4;p5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5;p5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86;p5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87;p5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88;p5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389;p54"/>
          <p:cNvSpPr txBox="1">
            <a:spLocks noGrp="1"/>
          </p:cNvSpPr>
          <p:nvPr>
            <p:ph type="title"/>
          </p:nvPr>
        </p:nvSpPr>
        <p:spPr>
          <a:xfrm rot="20426918">
            <a:off x="6534819" y="1346720"/>
            <a:ext cx="1862352" cy="592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dirty="0" smtClean="0">
                <a:latin typeface="Roboto Mono Medium"/>
                <a:ea typeface="Roboto Mono Medium"/>
                <a:cs typeface="Roboto Mono Medium"/>
                <a:sym typeface="Roboto Mono Medium"/>
              </a:rPr>
              <a:t>Arrow function</a:t>
            </a:r>
            <a:endParaRPr sz="1000" b="0" i="1" dirty="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7" name="Google Shape;360;p52"/>
          <p:cNvSpPr/>
          <p:nvPr/>
        </p:nvSpPr>
        <p:spPr>
          <a:xfrm rot="-2148808">
            <a:off x="4645291" y="2605258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8" name="Google Shape;360;p52"/>
          <p:cNvSpPr/>
          <p:nvPr/>
        </p:nvSpPr>
        <p:spPr>
          <a:xfrm rot="-2148808">
            <a:off x="1303274" y="2618841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9" name="Google Shape;361;p52"/>
          <p:cNvSpPr/>
          <p:nvPr/>
        </p:nvSpPr>
        <p:spPr>
          <a:xfrm rot="20964368">
            <a:off x="7761364" y="2410171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0" name="Google Shape;361;p52"/>
          <p:cNvSpPr/>
          <p:nvPr/>
        </p:nvSpPr>
        <p:spPr>
          <a:xfrm rot="20964368">
            <a:off x="4095860" y="2378154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9505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90508" y="306260"/>
            <a:ext cx="6401219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smtClean="0"/>
              <a:t>3. Scoped </a:t>
            </a:r>
            <a:r>
              <a:rPr lang="en-US" dirty="0" smtClean="0"/>
              <a:t>Variable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29850"/>
              </p:ext>
            </p:extLst>
          </p:nvPr>
        </p:nvGraphicFramePr>
        <p:xfrm>
          <a:off x="1378972" y="1054511"/>
          <a:ext cx="6728368" cy="33121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{8FD4443E-F989-4FC4-A0C8-D5A2AF1F390B}</a:tableStyleId>
              </a:tblPr>
              <a:tblGrid>
                <a:gridCol w="1682092">
                  <a:extLst>
                    <a:ext uri="{9D8B030D-6E8A-4147-A177-3AD203B41FA5}">
                      <a16:colId xmlns:a16="http://schemas.microsoft.com/office/drawing/2014/main" val="1543499662"/>
                    </a:ext>
                  </a:extLst>
                </a:gridCol>
                <a:gridCol w="1682092">
                  <a:extLst>
                    <a:ext uri="{9D8B030D-6E8A-4147-A177-3AD203B41FA5}">
                      <a16:colId xmlns:a16="http://schemas.microsoft.com/office/drawing/2014/main" val="1888956904"/>
                    </a:ext>
                  </a:extLst>
                </a:gridCol>
                <a:gridCol w="1682092">
                  <a:extLst>
                    <a:ext uri="{9D8B030D-6E8A-4147-A177-3AD203B41FA5}">
                      <a16:colId xmlns:a16="http://schemas.microsoft.com/office/drawing/2014/main" val="1529542469"/>
                    </a:ext>
                  </a:extLst>
                </a:gridCol>
                <a:gridCol w="1682092">
                  <a:extLst>
                    <a:ext uri="{9D8B030D-6E8A-4147-A177-3AD203B41FA5}">
                      <a16:colId xmlns:a16="http://schemas.microsoft.com/office/drawing/2014/main" val="1661928325"/>
                    </a:ext>
                  </a:extLst>
                </a:gridCol>
              </a:tblGrid>
              <a:tr h="662436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Roboto Mono Medium" panose="020B0604020202020204" charset="0"/>
                        <a:ea typeface="Roboto Mono Medium" panose="020B060402020202020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var</a:t>
                      </a:r>
                      <a:endParaRPr lang="en-US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let 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const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927175"/>
                  </a:ext>
                </a:extLst>
              </a:tr>
              <a:tr h="66243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u="none" strike="noStrike" cap="none" dirty="0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sym typeface="Arial"/>
                        </a:rPr>
                        <a:t>Origins</a:t>
                      </a:r>
                      <a:endParaRPr lang="en-US" sz="1400" b="1" i="0" u="none" strike="noStrike" cap="non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sz="1400" b="0" i="0" u="none" strike="noStrike" cap="none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ES2015</a:t>
                      </a:r>
                      <a:endParaRPr lang="en-US" sz="1400" b="0" i="0" u="none" strike="noStrike" cap="non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ES2015 (ES6)</a:t>
                      </a:r>
                      <a:endParaRPr lang="en-US" sz="1400" b="0" i="0" u="none" strike="noStrike" cap="none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ES2015 (ES6)</a:t>
                      </a:r>
                      <a:endParaRPr lang="en-US" sz="1400" b="0" i="0" u="none" strike="noStrike" cap="none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374439"/>
                  </a:ext>
                </a:extLst>
              </a:tr>
              <a:tr h="66243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u="none" strike="noStrike" cap="none" dirty="0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sym typeface="Arial"/>
                        </a:rPr>
                        <a:t>Scope</a:t>
                      </a:r>
                      <a:endParaRPr lang="en-US" sz="1400" b="1" i="0" u="none" strike="noStrike" cap="non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Global</a:t>
                      </a:r>
                      <a:endParaRPr lang="en-US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Block</a:t>
                      </a:r>
                      <a:endParaRPr lang="en-US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Block</a:t>
                      </a:r>
                      <a:endParaRPr lang="en-US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797252"/>
                  </a:ext>
                </a:extLst>
              </a:tr>
              <a:tr h="66243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u="none" strike="noStrike" cap="none" dirty="0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sym typeface="Arial"/>
                        </a:rPr>
                        <a:t>Update</a:t>
                      </a:r>
                      <a:endParaRPr lang="en-US" sz="1400" b="1" i="0" u="none" strike="noStrike" cap="non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710120"/>
                  </a:ext>
                </a:extLst>
              </a:tr>
              <a:tr h="66243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u="none" strike="noStrike" cap="none" dirty="0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sym typeface="Arial"/>
                        </a:rPr>
                        <a:t>Hoisting</a:t>
                      </a:r>
                      <a:endParaRPr lang="en-US" sz="1400" b="1" i="0" u="none" strike="noStrike" cap="non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994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1716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188" y="1627858"/>
            <a:ext cx="3434175" cy="11447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968" y="3419764"/>
            <a:ext cx="3461395" cy="11481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83133" y="285973"/>
            <a:ext cx="6401219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smtClean="0"/>
              <a:t>4. </a:t>
            </a:r>
            <a:r>
              <a:rPr lang="en-US" dirty="0" err="1" smtClean="0"/>
              <a:t>Destructuring</a:t>
            </a:r>
            <a:r>
              <a:rPr lang="en-US" dirty="0" smtClean="0"/>
              <a:t> &amp; Rest</a:t>
            </a:r>
            <a:endParaRPr dirty="0"/>
          </a:p>
        </p:txBody>
      </p:sp>
      <p:sp>
        <p:nvSpPr>
          <p:cNvPr id="8" name="Google Shape;358;p52"/>
          <p:cNvSpPr/>
          <p:nvPr/>
        </p:nvSpPr>
        <p:spPr>
          <a:xfrm rot="-391042">
            <a:off x="2642799" y="1489367"/>
            <a:ext cx="598338" cy="566215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61;p52"/>
          <p:cNvSpPr/>
          <p:nvPr/>
        </p:nvSpPr>
        <p:spPr>
          <a:xfrm>
            <a:off x="6145816" y="1439728"/>
            <a:ext cx="515093" cy="619218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60409" y="840805"/>
            <a:ext cx="7215777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err="1" smtClean="0"/>
              <a:t>Destructuring</a:t>
            </a:r>
            <a:r>
              <a:rPr lang="en-US" b="1" u="sng" dirty="0" smtClean="0"/>
              <a:t>: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Allows </a:t>
            </a:r>
            <a:r>
              <a:rPr lang="en-US" dirty="0"/>
              <a:t>to take values from an array or object and assign them to individual </a:t>
            </a:r>
            <a:r>
              <a:rPr lang="en-US" dirty="0" smtClean="0"/>
              <a:t>variables.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360409" y="2671391"/>
            <a:ext cx="7215777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Rest: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Usually used with </a:t>
            </a:r>
            <a:r>
              <a:rPr lang="en-US" dirty="0" smtClean="0"/>
              <a:t>“</a:t>
            </a:r>
            <a:r>
              <a:rPr lang="en-US" dirty="0" err="1" smtClean="0"/>
              <a:t>destructuring</a:t>
            </a:r>
            <a:r>
              <a:rPr lang="en-US" dirty="0" smtClean="0"/>
              <a:t>” </a:t>
            </a:r>
            <a:r>
              <a:rPr lang="en-US" dirty="0"/>
              <a:t>to get the elements of an array or object</a:t>
            </a:r>
          </a:p>
        </p:txBody>
      </p:sp>
      <p:sp>
        <p:nvSpPr>
          <p:cNvPr id="14" name="Google Shape;361;p52"/>
          <p:cNvSpPr/>
          <p:nvPr/>
        </p:nvSpPr>
        <p:spPr>
          <a:xfrm>
            <a:off x="6039992" y="3277294"/>
            <a:ext cx="515093" cy="619218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5" name="Google Shape;358;p52"/>
          <p:cNvSpPr/>
          <p:nvPr/>
        </p:nvSpPr>
        <p:spPr>
          <a:xfrm rot="-391042">
            <a:off x="2642798" y="3291168"/>
            <a:ext cx="598338" cy="566215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3616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314559" y="294775"/>
            <a:ext cx="6401219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smtClean="0"/>
              <a:t>5. </a:t>
            </a:r>
            <a:r>
              <a:rPr lang="en-US" dirty="0" smtClean="0"/>
              <a:t>Spread operator</a:t>
            </a:r>
          </a:p>
          <a:p>
            <a:pPr marL="0" indent="0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314558" y="809791"/>
            <a:ext cx="7215777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Concatenate </a:t>
            </a:r>
            <a:r>
              <a:rPr lang="en-US" dirty="0"/>
              <a:t>arrays or objects and override </a:t>
            </a:r>
            <a:r>
              <a:rPr lang="en-US" dirty="0" smtClean="0"/>
              <a:t>object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The Spread operator is represented by three dots </a:t>
            </a:r>
            <a:r>
              <a:rPr lang="en-US" dirty="0" smtClean="0"/>
              <a:t>“...”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560" y="1548455"/>
            <a:ext cx="3282225" cy="30589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122" y="1548455"/>
            <a:ext cx="3244485" cy="30562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Google Shape;358;p52"/>
          <p:cNvSpPr/>
          <p:nvPr/>
        </p:nvSpPr>
        <p:spPr>
          <a:xfrm rot="-391042">
            <a:off x="1291103" y="1465129"/>
            <a:ext cx="598338" cy="566215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58;p52"/>
          <p:cNvSpPr/>
          <p:nvPr/>
        </p:nvSpPr>
        <p:spPr>
          <a:xfrm rot="-391042">
            <a:off x="4779986" y="1395027"/>
            <a:ext cx="598338" cy="566215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61;p52"/>
          <p:cNvSpPr/>
          <p:nvPr/>
        </p:nvSpPr>
        <p:spPr>
          <a:xfrm>
            <a:off x="7791773" y="1416429"/>
            <a:ext cx="515093" cy="619218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7" name="Google Shape;361;p52"/>
          <p:cNvSpPr/>
          <p:nvPr/>
        </p:nvSpPr>
        <p:spPr>
          <a:xfrm>
            <a:off x="4356502" y="1416429"/>
            <a:ext cx="515093" cy="619218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2217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8"/>
          <p:cNvSpPr txBox="1">
            <a:spLocks noGrp="1"/>
          </p:cNvSpPr>
          <p:nvPr>
            <p:ph type="title"/>
          </p:nvPr>
        </p:nvSpPr>
        <p:spPr>
          <a:xfrm>
            <a:off x="2493091" y="1854312"/>
            <a:ext cx="4683959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 smtClean="0">
                <a:solidFill>
                  <a:schemeClr val="accent2"/>
                </a:solidFill>
              </a:rPr>
              <a:t>Thanks you!!!</a:t>
            </a:r>
            <a:endParaRPr sz="5400" dirty="0">
              <a:solidFill>
                <a:schemeClr val="accent2"/>
              </a:solidFill>
            </a:endParaRPr>
          </a:p>
        </p:txBody>
      </p:sp>
      <p:pic>
        <p:nvPicPr>
          <p:cNvPr id="651" name="Google Shape;651;p68"/>
          <p:cNvPicPr preferRelativeResize="0"/>
          <p:nvPr/>
        </p:nvPicPr>
        <p:blipFill rotWithShape="1">
          <a:blip r:embed="rId3">
            <a:alphaModFix amt="78000"/>
          </a:blip>
          <a:srcRect l="19967"/>
          <a:stretch/>
        </p:blipFill>
        <p:spPr>
          <a:xfrm rot="3044709">
            <a:off x="2397403" y="714063"/>
            <a:ext cx="1470368" cy="75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4917" y="2991312"/>
            <a:ext cx="2610150" cy="3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241</Words>
  <Application>Microsoft Office PowerPoint</Application>
  <PresentationFormat>On-screen Show (16:9)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Anonymous Pro</vt:lpstr>
      <vt:lpstr>Coming Soon</vt:lpstr>
      <vt:lpstr>Roboto Mono Medium</vt:lpstr>
      <vt:lpstr>Arial</vt:lpstr>
      <vt:lpstr>Concert One</vt:lpstr>
      <vt:lpstr>Notebook Lesson by Slidesgo</vt:lpstr>
      <vt:lpstr> ANGULAR         FRAMEWORK</vt:lpstr>
      <vt:lpstr>01</vt:lpstr>
      <vt:lpstr>The learning process</vt:lpstr>
      <vt:lpstr>PowerPoint Presentation</vt:lpstr>
      <vt:lpstr>Template string</vt:lpstr>
      <vt:lpstr>PowerPoint Presentation</vt:lpstr>
      <vt:lpstr>Arrow function</vt:lpstr>
      <vt:lpstr>PowerPoint Presentation</vt:lpstr>
      <vt:lpstr>PowerPoint Presentation</vt:lpstr>
      <vt:lpstr>PowerPoint Presentation</vt:lpstr>
      <vt:lpstr>Thanks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ANGULAR         FRAMEWORK</dc:title>
  <cp:lastModifiedBy>Sơn Nguyễn</cp:lastModifiedBy>
  <cp:revision>168</cp:revision>
  <dcterms:modified xsi:type="dcterms:W3CDTF">2023-03-01T06:50:32Z</dcterms:modified>
</cp:coreProperties>
</file>