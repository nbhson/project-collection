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36"/>
  </p:notesMasterIdLst>
  <p:sldIdLst>
    <p:sldId id="256" r:id="rId2"/>
    <p:sldId id="267" r:id="rId3"/>
    <p:sldId id="358" r:id="rId4"/>
    <p:sldId id="360" r:id="rId5"/>
    <p:sldId id="383" r:id="rId6"/>
    <p:sldId id="386" r:id="rId7"/>
    <p:sldId id="402" r:id="rId8"/>
    <p:sldId id="389" r:id="rId9"/>
    <p:sldId id="388" r:id="rId10"/>
    <p:sldId id="390" r:id="rId11"/>
    <p:sldId id="394" r:id="rId12"/>
    <p:sldId id="391" r:id="rId13"/>
    <p:sldId id="404" r:id="rId14"/>
    <p:sldId id="392" r:id="rId15"/>
    <p:sldId id="393" r:id="rId16"/>
    <p:sldId id="405" r:id="rId17"/>
    <p:sldId id="378" r:id="rId18"/>
    <p:sldId id="373" r:id="rId19"/>
    <p:sldId id="395" r:id="rId20"/>
    <p:sldId id="397" r:id="rId21"/>
    <p:sldId id="396" r:id="rId22"/>
    <p:sldId id="379" r:id="rId23"/>
    <p:sldId id="374" r:id="rId24"/>
    <p:sldId id="398" r:id="rId25"/>
    <p:sldId id="399" r:id="rId26"/>
    <p:sldId id="401" r:id="rId27"/>
    <p:sldId id="400" r:id="rId28"/>
    <p:sldId id="380" r:id="rId29"/>
    <p:sldId id="375" r:id="rId30"/>
    <p:sldId id="381" r:id="rId31"/>
    <p:sldId id="377" r:id="rId32"/>
    <p:sldId id="382" r:id="rId33"/>
    <p:sldId id="376" r:id="rId34"/>
    <p:sldId id="276" r:id="rId35"/>
  </p:sldIdLst>
  <p:sldSz cx="9144000" cy="5143500" type="screen16x9"/>
  <p:notesSz cx="6858000" cy="9144000"/>
  <p:embeddedFontLst>
    <p:embeddedFont>
      <p:font typeface="Concert One" panose="020B0604020202020204" charset="0"/>
      <p:regular r:id="rId37"/>
    </p:embeddedFont>
    <p:embeddedFont>
      <p:font typeface="Roboto Mono Medium" panose="020B0604020202020204" charset="0"/>
      <p:regular r:id="rId38"/>
      <p:bold r:id="rId39"/>
      <p:italic r:id="rId40"/>
      <p:boldItalic r:id="rId41"/>
    </p:embeddedFont>
    <p:embeddedFont>
      <p:font typeface="Coming Soon" panose="020B0604020202020204" charset="0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BC47C2-E912-4939-9D11-1E96352DCCD1}">
  <a:tblStyle styleId="{E4BC47C2-E912-4939-9D11-1E96352DCC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1209571f4d9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1209571f4d9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1098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698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9082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042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7098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915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1690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02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89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9889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737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6076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6085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79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899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14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05865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8380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86603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66466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7071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40974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64065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51615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82161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37300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2952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47077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42227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9856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853034354b_0_247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853034354b_0_247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1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1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4748475" y="48065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1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5339025" y="5954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1"/>
          <p:cNvPicPr preferRelativeResize="0"/>
          <p:nvPr/>
        </p:nvPicPr>
        <p:blipFill rotWithShape="1">
          <a:blip r:embed="rId4">
            <a:alphaModFix/>
          </a:blip>
          <a:srcRect b="7123"/>
          <a:stretch/>
        </p:blipFill>
        <p:spPr>
          <a:xfrm>
            <a:off x="1974100" y="324738"/>
            <a:ext cx="5195775" cy="44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 txBox="1">
            <a:spLocks noGrp="1"/>
          </p:cNvSpPr>
          <p:nvPr>
            <p:ph type="title" hasCustomPrompt="1"/>
          </p:nvPr>
        </p:nvSpPr>
        <p:spPr>
          <a:xfrm>
            <a:off x="2838275" y="1645347"/>
            <a:ext cx="40017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3335675" y="3062950"/>
            <a:ext cx="30069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1002325" y="711175"/>
            <a:ext cx="30822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SECTION_TITLE_AND_DESCRIPTION_1_2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9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 txBox="1">
            <a:spLocks noGrp="1"/>
          </p:cNvSpPr>
          <p:nvPr>
            <p:ph type="title"/>
          </p:nvPr>
        </p:nvSpPr>
        <p:spPr>
          <a:xfrm>
            <a:off x="2598373" y="1548225"/>
            <a:ext cx="1971900" cy="4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subTitle" idx="1"/>
          </p:nvPr>
        </p:nvSpPr>
        <p:spPr>
          <a:xfrm>
            <a:off x="2598375" y="1928075"/>
            <a:ext cx="1971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9"/>
          <p:cNvSpPr txBox="1">
            <a:spLocks noGrp="1"/>
          </p:cNvSpPr>
          <p:nvPr>
            <p:ph type="title" idx="2"/>
          </p:nvPr>
        </p:nvSpPr>
        <p:spPr>
          <a:xfrm>
            <a:off x="5835074" y="1548225"/>
            <a:ext cx="1971900" cy="4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subTitle" idx="3"/>
          </p:nvPr>
        </p:nvSpPr>
        <p:spPr>
          <a:xfrm>
            <a:off x="5835075" y="1928075"/>
            <a:ext cx="1971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title" idx="4"/>
          </p:nvPr>
        </p:nvSpPr>
        <p:spPr>
          <a:xfrm>
            <a:off x="2598373" y="2987900"/>
            <a:ext cx="1971900" cy="4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subTitle" idx="5"/>
          </p:nvPr>
        </p:nvSpPr>
        <p:spPr>
          <a:xfrm>
            <a:off x="2598375" y="3369312"/>
            <a:ext cx="1971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title" idx="6"/>
          </p:nvPr>
        </p:nvSpPr>
        <p:spPr>
          <a:xfrm>
            <a:off x="5835074" y="2987898"/>
            <a:ext cx="1971900" cy="4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subTitle" idx="7"/>
          </p:nvPr>
        </p:nvSpPr>
        <p:spPr>
          <a:xfrm>
            <a:off x="5835075" y="3369311"/>
            <a:ext cx="1971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title" idx="8"/>
          </p:nvPr>
        </p:nvSpPr>
        <p:spPr>
          <a:xfrm>
            <a:off x="1926750" y="711175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7" r:id="rId3"/>
    <p:sldLayoutId id="2147483658" r:id="rId4"/>
    <p:sldLayoutId id="2147483668" r:id="rId5"/>
    <p:sldLayoutId id="2147483675" r:id="rId6"/>
    <p:sldLayoutId id="2147483687" r:id="rId7"/>
    <p:sldLayoutId id="2147483688" r:id="rId8"/>
    <p:sldLayoutId id="2147483689" r:id="rId9"/>
    <p:sldLayoutId id="2147483690" r:id="rId10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bhson@tma.com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ngular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>
            <a:spLocks noGrp="1"/>
          </p:cNvSpPr>
          <p:nvPr>
            <p:ph type="ctrTitle"/>
          </p:nvPr>
        </p:nvSpPr>
        <p:spPr>
          <a:xfrm>
            <a:off x="1551351" y="1236005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 ANGULAR         FRAMEWORK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11" name="Google Shape;311;p48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 smtClean="0"/>
              <a:t>Starts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 smtClean="0"/>
              <a:t>the </a:t>
            </a:r>
            <a:r>
              <a:rPr lang="en" b="0" dirty="0"/>
              <a:t>lesson!</a:t>
            </a:r>
            <a:endParaRPr b="0" dirty="0"/>
          </a:p>
        </p:txBody>
      </p:sp>
      <p:sp>
        <p:nvSpPr>
          <p:cNvPr id="312" name="Google Shape;312;p48"/>
          <p:cNvSpPr/>
          <p:nvPr/>
        </p:nvSpPr>
        <p:spPr>
          <a:xfrm>
            <a:off x="1889900" y="2017446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3" name="Google Shape;313;p48"/>
          <p:cNvSpPr/>
          <p:nvPr/>
        </p:nvSpPr>
        <p:spPr>
          <a:xfrm>
            <a:off x="6707528" y="2035010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4" name="Google Shape;314;p48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Rectangle 9"/>
          <p:cNvSpPr/>
          <p:nvPr/>
        </p:nvSpPr>
        <p:spPr>
          <a:xfrm>
            <a:off x="4845304" y="3407711"/>
            <a:ext cx="2841135" cy="73866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lvl="0" algn="r">
              <a:buClr>
                <a:schemeClr val="accent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Nguyen </a:t>
            </a:r>
            <a:r>
              <a:rPr lang="en-US" dirty="0" err="1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Binh</a:t>
            </a:r>
            <a:r>
              <a:rPr lang="en-US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Hong Son</a:t>
            </a:r>
          </a:p>
          <a:p>
            <a:pPr lvl="0" algn="r">
              <a:buClr>
                <a:schemeClr val="accent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  <a:hlinkClick r:id="rId3"/>
              </a:rPr>
              <a:t>nbhson@tma.com.vn</a:t>
            </a:r>
            <a:endParaRPr lang="en-US" dirty="0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lvl="0" algn="r">
              <a:buClr>
                <a:schemeClr val="accent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Source: </a:t>
            </a:r>
            <a:r>
              <a:rPr lang="en-US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  <a:hlinkClick r:id="rId4"/>
              </a:rPr>
              <a:t>angular.io</a:t>
            </a:r>
            <a:endParaRPr lang="en-US" dirty="0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498333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3600" dirty="0" smtClean="0"/>
              <a:t>What is Angular?</a:t>
            </a:r>
            <a:endParaRPr sz="3600" dirty="0"/>
          </a:p>
        </p:txBody>
      </p:sp>
      <p:sp>
        <p:nvSpPr>
          <p:cNvPr id="6" name="Rectangle 5"/>
          <p:cNvSpPr/>
          <p:nvPr/>
        </p:nvSpPr>
        <p:spPr>
          <a:xfrm>
            <a:off x="1656174" y="1149979"/>
            <a:ext cx="6352672" cy="129189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  <a:buSzPts val="1800"/>
            </a:pPr>
            <a:r>
              <a:rPr lang="en-US" sz="1800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</a:rPr>
              <a:t>Angular is a platform that helps you create an advanced web application in HTML using Typescript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6174" y="2748825"/>
            <a:ext cx="6352672" cy="87639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  <a:buSzPts val="1800"/>
            </a:pPr>
            <a:r>
              <a:rPr lang="da-DK" sz="1800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</a:rPr>
              <a:t>It helps you to structure your code, separate your concerns and remove trivial code.</a:t>
            </a:r>
            <a:endParaRPr lang="en-GB" sz="1800" dirty="0">
              <a:solidFill>
                <a:schemeClr val="dk2"/>
              </a:solidFill>
              <a:latin typeface="Roboto Mono Medium"/>
              <a:ea typeface="Roboto Mono Medium"/>
              <a:cs typeface="Roboto Mono Medium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017" y="4308634"/>
            <a:ext cx="342857" cy="34285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3"/>
          <p:cNvSpPr txBox="1">
            <a:spLocks noGrp="1"/>
          </p:cNvSpPr>
          <p:nvPr>
            <p:ph type="title"/>
          </p:nvPr>
        </p:nvSpPr>
        <p:spPr>
          <a:xfrm>
            <a:off x="615861" y="674432"/>
            <a:ext cx="3392111" cy="551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learning process</a:t>
            </a:r>
            <a:endParaRPr dirty="0"/>
          </a:p>
        </p:txBody>
      </p:sp>
      <p:sp>
        <p:nvSpPr>
          <p:cNvPr id="721" name="Google Shape;721;p73"/>
          <p:cNvSpPr txBox="1">
            <a:spLocks noGrp="1"/>
          </p:cNvSpPr>
          <p:nvPr>
            <p:ph type="subTitle" idx="4294967295"/>
          </p:nvPr>
        </p:nvSpPr>
        <p:spPr>
          <a:xfrm>
            <a:off x="1727859" y="3417593"/>
            <a:ext cx="2365611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Forms &amp; validation</a:t>
            </a:r>
            <a:endParaRPr lang="en-US" sz="1400" dirty="0">
              <a:solidFill>
                <a:schemeClr val="dk2"/>
              </a:solidFill>
            </a:endParaRPr>
          </a:p>
        </p:txBody>
      </p:sp>
      <p:sp>
        <p:nvSpPr>
          <p:cNvPr id="722" name="Google Shape;722;p73"/>
          <p:cNvSpPr txBox="1">
            <a:spLocks noGrp="1"/>
          </p:cNvSpPr>
          <p:nvPr>
            <p:ph type="subTitle" idx="4294967295"/>
          </p:nvPr>
        </p:nvSpPr>
        <p:spPr>
          <a:xfrm>
            <a:off x="6138150" y="2644985"/>
            <a:ext cx="2355003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Testing &amp; Debugging</a:t>
            </a:r>
            <a:endParaRPr lang="en-US" sz="1400" dirty="0">
              <a:solidFill>
                <a:schemeClr val="dk2"/>
              </a:solidFill>
            </a:endParaRPr>
          </a:p>
        </p:txBody>
      </p:sp>
      <p:sp>
        <p:nvSpPr>
          <p:cNvPr id="723" name="Google Shape;723;p73"/>
          <p:cNvSpPr txBox="1">
            <a:spLocks noGrp="1"/>
          </p:cNvSpPr>
          <p:nvPr>
            <p:ph type="subTitle" idx="4294967295"/>
          </p:nvPr>
        </p:nvSpPr>
        <p:spPr>
          <a:xfrm>
            <a:off x="1703946" y="1734935"/>
            <a:ext cx="19776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 Architecture</a:t>
            </a:r>
            <a:endParaRPr sz="1400" dirty="0">
              <a:solidFill>
                <a:schemeClr val="dk2"/>
              </a:solidFill>
            </a:endParaRPr>
          </a:p>
        </p:txBody>
      </p:sp>
      <p:sp>
        <p:nvSpPr>
          <p:cNvPr id="724" name="Google Shape;724;p73"/>
          <p:cNvSpPr txBox="1">
            <a:spLocks noGrp="1"/>
          </p:cNvSpPr>
          <p:nvPr>
            <p:ph type="subTitle" idx="4294967295"/>
          </p:nvPr>
        </p:nvSpPr>
        <p:spPr>
          <a:xfrm>
            <a:off x="6138150" y="1802288"/>
            <a:ext cx="2061545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indent="0"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HTTP &amp; API</a:t>
            </a:r>
            <a:endParaRPr lang="en-US" sz="1400" dirty="0">
              <a:solidFill>
                <a:schemeClr val="dk2"/>
              </a:solidFill>
            </a:endParaRPr>
          </a:p>
        </p:txBody>
      </p:sp>
      <p:sp>
        <p:nvSpPr>
          <p:cNvPr id="727" name="Google Shape;727;p73"/>
          <p:cNvSpPr txBox="1">
            <a:spLocks noGrp="1"/>
          </p:cNvSpPr>
          <p:nvPr>
            <p:ph type="subTitle" idx="4294967295"/>
          </p:nvPr>
        </p:nvSpPr>
        <p:spPr>
          <a:xfrm>
            <a:off x="289434" y="173493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1</a:t>
            </a:r>
            <a:endParaRPr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28" name="Google Shape;728;p73"/>
          <p:cNvSpPr txBox="1">
            <a:spLocks noGrp="1"/>
          </p:cNvSpPr>
          <p:nvPr>
            <p:ph type="subTitle" idx="4294967295"/>
          </p:nvPr>
        </p:nvSpPr>
        <p:spPr>
          <a:xfrm>
            <a:off x="313348" y="3417605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3</a:t>
            </a:r>
            <a:endParaRPr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29" name="Google Shape;729;p73"/>
          <p:cNvSpPr txBox="1">
            <a:spLocks noGrp="1"/>
          </p:cNvSpPr>
          <p:nvPr>
            <p:ph type="subTitle" idx="4294967295"/>
          </p:nvPr>
        </p:nvSpPr>
        <p:spPr>
          <a:xfrm>
            <a:off x="4723634" y="1802313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4</a:t>
            </a:r>
            <a:endParaRPr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30" name="Google Shape;730;p73"/>
          <p:cNvSpPr txBox="1">
            <a:spLocks noGrp="1"/>
          </p:cNvSpPr>
          <p:nvPr>
            <p:ph type="subTitle" idx="4294967295"/>
          </p:nvPr>
        </p:nvSpPr>
        <p:spPr>
          <a:xfrm>
            <a:off x="4736801" y="2646732"/>
            <a:ext cx="744300" cy="5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5</a:t>
            </a:r>
            <a:endParaRPr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cxnSp>
        <p:nvCxnSpPr>
          <p:cNvPr id="733" name="Google Shape;733;p73"/>
          <p:cNvCxnSpPr/>
          <p:nvPr/>
        </p:nvCxnSpPr>
        <p:spPr>
          <a:xfrm>
            <a:off x="1303575" y="1734935"/>
            <a:ext cx="0" cy="23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734;p73"/>
          <p:cNvCxnSpPr/>
          <p:nvPr/>
        </p:nvCxnSpPr>
        <p:spPr>
          <a:xfrm>
            <a:off x="5780158" y="1775395"/>
            <a:ext cx="0" cy="238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5" name="Google Shape;7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415" y="194839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329" y="3631069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615" y="2015777"/>
            <a:ext cx="744301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7532" y="2860196"/>
            <a:ext cx="744301" cy="13316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723;p73"/>
          <p:cNvSpPr txBox="1">
            <a:spLocks/>
          </p:cNvSpPr>
          <p:nvPr/>
        </p:nvSpPr>
        <p:spPr>
          <a:xfrm>
            <a:off x="1706484" y="2603511"/>
            <a:ext cx="2423778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buFont typeface="Roboto Mono Medium"/>
              <a:buNone/>
            </a:pPr>
            <a:r>
              <a:rPr lang="en-US" sz="1400" dirty="0">
                <a:solidFill>
                  <a:schemeClr val="dk2"/>
                </a:solidFill>
              </a:rPr>
              <a:t> </a:t>
            </a:r>
            <a:r>
              <a:rPr lang="en-US" sz="1400" dirty="0" smtClean="0">
                <a:solidFill>
                  <a:schemeClr val="dk2"/>
                </a:solidFill>
              </a:rPr>
              <a:t>Routing &amp; Navigation</a:t>
            </a:r>
            <a:endParaRPr lang="en-US" sz="1400" dirty="0">
              <a:solidFill>
                <a:schemeClr val="dk2"/>
              </a:solidFill>
            </a:endParaRPr>
          </a:p>
        </p:txBody>
      </p:sp>
      <p:sp>
        <p:nvSpPr>
          <p:cNvPr id="23" name="Google Shape;727;p73"/>
          <p:cNvSpPr txBox="1">
            <a:spLocks/>
          </p:cNvSpPr>
          <p:nvPr/>
        </p:nvSpPr>
        <p:spPr>
          <a:xfrm>
            <a:off x="325425" y="2603511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 algn="ctr">
              <a:buFont typeface="Roboto Mono Medium"/>
              <a:buNone/>
            </a:pPr>
            <a:r>
              <a:rPr lang="en" sz="3000" dirty="0" smtClean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2</a:t>
            </a:r>
            <a:endParaRPr lang="en"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pic>
        <p:nvPicPr>
          <p:cNvPr id="24" name="Google Shape;7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406" y="2816975"/>
            <a:ext cx="744301" cy="13316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722;p73"/>
          <p:cNvSpPr txBox="1">
            <a:spLocks/>
          </p:cNvSpPr>
          <p:nvPr/>
        </p:nvSpPr>
        <p:spPr>
          <a:xfrm>
            <a:off x="6180747" y="3433514"/>
            <a:ext cx="2355003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14300" indent="0">
              <a:buFont typeface="Roboto Mono Medium"/>
              <a:buNone/>
            </a:pPr>
            <a:r>
              <a:rPr lang="en-US" sz="1400" dirty="0" smtClean="0">
                <a:solidFill>
                  <a:schemeClr val="dk2"/>
                </a:solidFill>
              </a:rPr>
              <a:t>Performance </a:t>
            </a:r>
            <a:endParaRPr lang="en-US" sz="1400" dirty="0">
              <a:solidFill>
                <a:schemeClr val="dk2"/>
              </a:solidFill>
            </a:endParaRPr>
          </a:p>
        </p:txBody>
      </p:sp>
      <p:sp>
        <p:nvSpPr>
          <p:cNvPr id="26" name="Google Shape;730;p73"/>
          <p:cNvSpPr txBox="1">
            <a:spLocks/>
          </p:cNvSpPr>
          <p:nvPr/>
        </p:nvSpPr>
        <p:spPr>
          <a:xfrm>
            <a:off x="4727361" y="3438400"/>
            <a:ext cx="7443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 sz="1400" b="0" i="0" u="none" strike="noStrike" cap="none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 algn="ctr">
              <a:buFont typeface="Roboto Mono Medium"/>
              <a:buNone/>
            </a:pPr>
            <a:r>
              <a:rPr lang="en" sz="3000" dirty="0" smtClean="0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rPr>
              <a:t>6</a:t>
            </a:r>
            <a:endParaRPr lang="en" sz="3000" dirty="0">
              <a:solidFill>
                <a:schemeClr val="dk1"/>
              </a:solidFill>
              <a:latin typeface="Concert One"/>
              <a:ea typeface="Concert One"/>
              <a:cs typeface="Concert One"/>
              <a:sym typeface="Concert One"/>
            </a:endParaRPr>
          </a:p>
        </p:txBody>
      </p:sp>
      <p:pic>
        <p:nvPicPr>
          <p:cNvPr id="27" name="Google Shape;73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092" y="3651864"/>
            <a:ext cx="744301" cy="1331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52460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" grpId="0" build="p"/>
      <p:bldP spid="722" grpId="0" build="p"/>
      <p:bldP spid="723" grpId="0" build="p"/>
      <p:bldP spid="724" grpId="0" build="p"/>
      <p:bldP spid="727" grpId="0" build="p"/>
      <p:bldP spid="728" grpId="0" build="p"/>
      <p:bldP spid="729" grpId="0" build="p"/>
      <p:bldP spid="730" grpId="0" build="p"/>
      <p:bldP spid="22" grpId="0"/>
      <p:bldP spid="23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01</a:t>
            </a:r>
            <a:endParaRPr dirty="0"/>
          </a:p>
        </p:txBody>
      </p:sp>
      <p:pic>
        <p:nvPicPr>
          <p:cNvPr id="346" name="Google Shape;346;p51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2172928" y="2830930"/>
            <a:ext cx="4798141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Angular Architecture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62060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1. </a:t>
            </a:r>
            <a:r>
              <a:rPr lang="en-US" dirty="0" smtClean="0"/>
              <a:t>Architecture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617044" y="933815"/>
            <a:ext cx="6150544" cy="58477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lvl="0"/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Angular architecture provides a way to organize and manage source code in Angular projects.</a:t>
            </a:r>
            <a:endParaRPr lang="en-US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464" y="1712380"/>
            <a:ext cx="5566041" cy="2752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638" y="4369871"/>
            <a:ext cx="618867" cy="37844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01402" y="1634464"/>
            <a:ext cx="1756794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Modules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Components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Templates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Metadata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Dada binding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Directive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Pipe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Service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DI</a:t>
            </a:r>
            <a:endParaRPr lang="en-US" u="sng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9897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1.1 </a:t>
            </a:r>
            <a:r>
              <a:rPr lang="en-US" dirty="0" smtClean="0"/>
              <a:t>Module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936733" y="1164822"/>
            <a:ext cx="4025905" cy="58477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lvl="0"/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Angular applications are </a:t>
            </a:r>
            <a:r>
              <a:rPr lang="da-DK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based</a:t>
            </a:r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 on Modules.</a:t>
            </a:r>
            <a:endParaRPr lang="en-US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638" y="4369871"/>
            <a:ext cx="618867" cy="3784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936733" y="1881834"/>
            <a:ext cx="42447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Angular Modules helps </a:t>
            </a:r>
            <a:r>
              <a:rPr lang="da-DK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organizing</a:t>
            </a:r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 the application</a:t>
            </a:r>
          </a:p>
        </p:txBody>
      </p:sp>
      <p:pic>
        <p:nvPicPr>
          <p:cNvPr id="3074" name="Picture 2" descr="Compon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234" y="933815"/>
            <a:ext cx="228600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605815" y="4295222"/>
            <a:ext cx="61328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A module is implemented as a </a:t>
            </a:r>
            <a:r>
              <a:rPr lang="da-DK" sz="1600" dirty="0" smtClean="0">
                <a:latin typeface="Roboto Mono Medium" panose="020B0604020202020204" charset="0"/>
                <a:ea typeface="Roboto Mono Medium" panose="020B0604020202020204" charset="0"/>
              </a:rPr>
              <a:t>class (</a:t>
            </a:r>
            <a:r>
              <a:rPr lang="vi-VN" b="1" i="1" dirty="0"/>
              <a:t>@NgModule</a:t>
            </a:r>
            <a:r>
              <a:rPr lang="da-DK" sz="1600" dirty="0" smtClean="0">
                <a:latin typeface="Roboto Mono Medium" panose="020B0604020202020204" charset="0"/>
                <a:ea typeface="Roboto Mono Medium" panose="020B0604020202020204" charset="0"/>
              </a:rPr>
              <a:t>). </a:t>
            </a:r>
            <a:endParaRPr lang="da-DK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05816" y="2874110"/>
            <a:ext cx="62483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Declares which components, services etc that belongs together.</a:t>
            </a:r>
            <a:endParaRPr lang="en-GB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05815" y="3590579"/>
            <a:ext cx="64890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Every Angular applications have at least one module - the RootModule by convention named AppModule.</a:t>
            </a:r>
          </a:p>
        </p:txBody>
      </p:sp>
      <p:sp>
        <p:nvSpPr>
          <p:cNvPr id="2" name="Rectangle 1"/>
          <p:cNvSpPr/>
          <p:nvPr/>
        </p:nvSpPr>
        <p:spPr>
          <a:xfrm>
            <a:off x="7348367" y="4428966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6485411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3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1.2 </a:t>
            </a:r>
            <a:r>
              <a:rPr lang="en-US" dirty="0" smtClean="0"/>
              <a:t>Component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2905606" y="1429434"/>
            <a:ext cx="5413384" cy="58477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lvl="0"/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An application written in Angular is assembled by 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components</a:t>
            </a:r>
            <a:endParaRPr lang="en-US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638" y="4369871"/>
            <a:ext cx="618867" cy="3784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70991" y="2873082"/>
            <a:ext cx="487436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A component  consists of three parts: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A </a:t>
            </a: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t</a:t>
            </a:r>
            <a:r>
              <a:rPr lang="da-DK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emplate (html)</a:t>
            </a:r>
            <a:endParaRPr lang="en-US" sz="1600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A decorator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A </a:t>
            </a: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typescript class (</a:t>
            </a:r>
            <a:r>
              <a:rPr lang="en-US" sz="1600" dirty="0" err="1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ts</a:t>
            </a: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)</a:t>
            </a:r>
            <a:endParaRPr lang="en-US" sz="1600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34480" y="2146446"/>
            <a:ext cx="51829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We create components and arrange them to create the view of the application.</a:t>
            </a:r>
          </a:p>
        </p:txBody>
      </p:sp>
      <p:pic>
        <p:nvPicPr>
          <p:cNvPr id="10" name="Billede 6"/>
          <p:cNvPicPr/>
          <p:nvPr/>
        </p:nvPicPr>
        <p:blipFill rotWithShape="1">
          <a:blip r:embed="rId4"/>
          <a:srcRect l="24595" t="33695" r="66098" b="34384"/>
          <a:stretch/>
        </p:blipFill>
        <p:spPr bwMode="auto">
          <a:xfrm>
            <a:off x="1520792" y="1489715"/>
            <a:ext cx="1049154" cy="246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728009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1.3 </a:t>
            </a:r>
            <a:r>
              <a:rPr lang="en-US" dirty="0" smtClean="0"/>
              <a:t>Metadata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865571" y="1439131"/>
            <a:ext cx="3813600" cy="5355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GB" sz="1600" dirty="0">
                <a:latin typeface="Roboto Mono Medium" panose="020B0604020202020204" charset="0"/>
                <a:ea typeface="Roboto Mono Medium" panose="020B0604020202020204" charset="0"/>
              </a:rPr>
              <a:t>Metadata tells Angular how to process a class.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638" y="4369871"/>
            <a:ext cx="618867" cy="3784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65571" y="2868939"/>
            <a:ext cx="367685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To tell Angular that it’s a component, attach metadata to the class</a:t>
            </a:r>
            <a:endParaRPr lang="en-GB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65571" y="2170324"/>
            <a:ext cx="3813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GB" sz="1600" dirty="0">
                <a:latin typeface="Roboto Mono Medium" panose="020B0604020202020204" charset="0"/>
                <a:ea typeface="Roboto Mono Medium" panose="020B0604020202020204" charset="0"/>
              </a:rPr>
              <a:t>In </a:t>
            </a:r>
            <a:r>
              <a:rPr lang="en-GB" sz="1600" dirty="0" err="1">
                <a:latin typeface="Roboto Mono Medium" panose="020B0604020202020204" charset="0"/>
                <a:ea typeface="Roboto Mono Medium" panose="020B0604020202020204" charset="0"/>
              </a:rPr>
              <a:t>TypeScript</a:t>
            </a:r>
            <a:r>
              <a:rPr lang="en-GB" sz="1600" dirty="0">
                <a:latin typeface="Roboto Mono Medium" panose="020B0604020202020204" charset="0"/>
                <a:ea typeface="Roboto Mono Medium" panose="020B0604020202020204" charset="0"/>
              </a:rPr>
              <a:t>, you attach metadata by using </a:t>
            </a:r>
            <a:r>
              <a:rPr lang="en-GB" sz="1600" dirty="0" smtClean="0">
                <a:latin typeface="Roboto Mono Medium" panose="020B0604020202020204" charset="0"/>
                <a:ea typeface="Roboto Mono Medium" panose="020B0604020202020204" charset="0"/>
              </a:rPr>
              <a:t>a decorator</a:t>
            </a:r>
            <a:endParaRPr lang="en-GB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10" name="Billede 4"/>
          <p:cNvPicPr/>
          <p:nvPr/>
        </p:nvPicPr>
        <p:blipFill rotWithShape="1">
          <a:blip r:embed="rId4"/>
          <a:srcRect l="24595" t="46663" r="66098" b="47389"/>
          <a:stretch/>
        </p:blipFill>
        <p:spPr bwMode="auto">
          <a:xfrm>
            <a:off x="3760550" y="378793"/>
            <a:ext cx="1105021" cy="3968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757" y="1477631"/>
            <a:ext cx="3514814" cy="211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362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1.4 </a:t>
            </a:r>
            <a:r>
              <a:rPr lang="en-US" dirty="0" smtClean="0"/>
              <a:t>Template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552749" y="1703835"/>
            <a:ext cx="3898231" cy="5355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We define the component's view with its template.</a:t>
            </a:r>
            <a:endParaRPr lang="en-GB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638" y="4369871"/>
            <a:ext cx="618867" cy="3784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52748" y="2420847"/>
            <a:ext cx="36768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latin typeface="Roboto Mono Medium" panose="020B0604020202020204" charset="0"/>
                <a:ea typeface="Roboto Mono Medium" panose="020B0604020202020204" charset="0"/>
              </a:rPr>
              <a:t>A </a:t>
            </a:r>
            <a:r>
              <a:rPr lang="en-GB" sz="1600" dirty="0">
                <a:latin typeface="Roboto Mono Medium" panose="020B0604020202020204" charset="0"/>
                <a:ea typeface="Roboto Mono Medium" panose="020B0604020202020204" charset="0"/>
              </a:rPr>
              <a:t>template is a form of HTML that tells Angular how to render the </a:t>
            </a:r>
            <a:r>
              <a:rPr lang="en-GB" sz="1600" dirty="0" smtClean="0">
                <a:latin typeface="Roboto Mono Medium" panose="020B0604020202020204" charset="0"/>
                <a:ea typeface="Roboto Mono Medium" panose="020B0604020202020204" charset="0"/>
              </a:rPr>
              <a:t>component view.</a:t>
            </a:r>
            <a:endParaRPr lang="en-GB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9" name="Billede 7"/>
          <p:cNvPicPr/>
          <p:nvPr/>
        </p:nvPicPr>
        <p:blipFill rotWithShape="1">
          <a:blip r:embed="rId4"/>
          <a:srcRect l="23764" t="46404" r="52305" b="19014"/>
          <a:stretch/>
        </p:blipFill>
        <p:spPr bwMode="auto">
          <a:xfrm>
            <a:off x="1463040" y="1222408"/>
            <a:ext cx="2980721" cy="25676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/>
          <p:cNvSpPr/>
          <p:nvPr/>
        </p:nvSpPr>
        <p:spPr>
          <a:xfrm>
            <a:off x="7132318" y="4369871"/>
            <a:ext cx="10299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  <a:endParaRPr lang="en-GB" sz="1600" u="sng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2028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1.5 </a:t>
            </a:r>
            <a:r>
              <a:rPr lang="en-US" dirty="0" smtClean="0"/>
              <a:t>Data binding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865571" y="2637621"/>
            <a:ext cx="3715934" cy="5355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There are 3 types of data binding in Angular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:</a:t>
            </a:r>
            <a:endParaRPr lang="en-US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638" y="4369871"/>
            <a:ext cx="618867" cy="37844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846321" y="1407012"/>
            <a:ext cx="3951170" cy="978729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GB" sz="1600" dirty="0">
                <a:latin typeface="Roboto Mono Medium" panose="020B0604020202020204" charset="0"/>
                <a:ea typeface="Roboto Mono Medium" panose="020B0604020202020204" charset="0"/>
              </a:rPr>
              <a:t>Angular supports data binding, a mechanism for coordinating parts of a template with parts of a component</a:t>
            </a:r>
            <a:r>
              <a:rPr lang="en-GB" sz="16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84821" y="3134652"/>
            <a:ext cx="45720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Interpolation</a:t>
            </a: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Property </a:t>
            </a: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(style</a:t>
            </a: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, class)</a:t>
            </a: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Event</a:t>
            </a:r>
            <a:endParaRPr lang="en-GB" sz="1600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12" name="Billede 7"/>
          <p:cNvPicPr/>
          <p:nvPr/>
        </p:nvPicPr>
        <p:blipFill rotWithShape="1">
          <a:blip r:embed="rId4"/>
          <a:srcRect l="19941" t="31037" r="56461" b="22559"/>
          <a:stretch/>
        </p:blipFill>
        <p:spPr bwMode="auto">
          <a:xfrm>
            <a:off x="1414914" y="1001348"/>
            <a:ext cx="3350372" cy="33950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495505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1.5.1 </a:t>
            </a:r>
            <a:r>
              <a:rPr lang="en-US" dirty="0" smtClean="0"/>
              <a:t>Component Interaction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511136" y="1415078"/>
            <a:ext cx="3749334" cy="1077218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lvl="0"/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Passing data from </a:t>
            </a:r>
            <a:r>
              <a:rPr lang="da-DK" sz="1600" b="1" dirty="0">
                <a:latin typeface="Roboto Mono Medium" panose="020B0604020202020204" charset="0"/>
                <a:ea typeface="Roboto Mono Medium" panose="020B0604020202020204" charset="0"/>
              </a:rPr>
              <a:t>parent</a:t>
            </a:r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 to </a:t>
            </a:r>
            <a:r>
              <a:rPr lang="da-DK" sz="1600" b="1" dirty="0">
                <a:latin typeface="Roboto Mono Medium" panose="020B0604020202020204" charset="0"/>
                <a:ea typeface="Roboto Mono Medium" panose="020B0604020202020204" charset="0"/>
              </a:rPr>
              <a:t>child</a:t>
            </a:r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 using: </a:t>
            </a:r>
            <a:endParaRPr lang="da-DK" sz="1600" dirty="0" smtClean="0">
              <a:latin typeface="Roboto Mono Medium" panose="020B0604020202020204" charset="0"/>
              <a:ea typeface="Roboto Mono Medium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a-DK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@</a:t>
            </a:r>
            <a:r>
              <a:rPr lang="da-DK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Input</a:t>
            </a:r>
            <a:r>
              <a:rPr lang="da-DK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()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P</a:t>
            </a:r>
            <a:r>
              <a:rPr lang="da-DK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roperty-binding</a:t>
            </a:r>
            <a:endParaRPr lang="en-US" sz="1600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638" y="4369871"/>
            <a:ext cx="618867" cy="3784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51192" y="2613353"/>
            <a:ext cx="36692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Passing data from </a:t>
            </a:r>
            <a:r>
              <a:rPr lang="da-DK" sz="1600" b="1" dirty="0">
                <a:latin typeface="Roboto Mono Medium" panose="020B0604020202020204" charset="0"/>
                <a:ea typeface="Roboto Mono Medium" panose="020B0604020202020204" charset="0"/>
              </a:rPr>
              <a:t>child</a:t>
            </a:r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 to </a:t>
            </a:r>
            <a:r>
              <a:rPr lang="da-DK" sz="1600" b="1" dirty="0">
                <a:latin typeface="Roboto Mono Medium" panose="020B0604020202020204" charset="0"/>
                <a:ea typeface="Roboto Mono Medium" panose="020B0604020202020204" charset="0"/>
              </a:rPr>
              <a:t>parent</a:t>
            </a:r>
            <a:r>
              <a:rPr lang="da-DK" sz="1600" dirty="0">
                <a:latin typeface="Roboto Mono Medium" panose="020B0604020202020204" charset="0"/>
                <a:ea typeface="Roboto Mono Medium" panose="020B0604020202020204" charset="0"/>
              </a:rPr>
              <a:t> using</a:t>
            </a:r>
            <a:r>
              <a:rPr lang="da-DK" sz="1600" dirty="0" smtClean="0">
                <a:latin typeface="Roboto Mono Medium" panose="020B0604020202020204" charset="0"/>
                <a:ea typeface="Roboto Mono Medium" panose="020B060402020202020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@</a:t>
            </a:r>
            <a:r>
              <a:rPr lang="da-DK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Output</a:t>
            </a:r>
            <a:r>
              <a:rPr lang="da-DK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()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EventEmitter</a:t>
            </a:r>
            <a:endParaRPr lang="en-GB" sz="1600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11" name="Billede 7"/>
          <p:cNvPicPr/>
          <p:nvPr/>
        </p:nvPicPr>
        <p:blipFill rotWithShape="1">
          <a:blip r:embed="rId4"/>
          <a:srcRect l="23764" t="46404" r="52305" b="19014"/>
          <a:stretch/>
        </p:blipFill>
        <p:spPr bwMode="auto">
          <a:xfrm>
            <a:off x="1463040" y="1222408"/>
            <a:ext cx="2980721" cy="25676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/>
          <p:cNvSpPr/>
          <p:nvPr/>
        </p:nvSpPr>
        <p:spPr>
          <a:xfrm>
            <a:off x="7345256" y="4440538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2141349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1.6 Directive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638" y="4369871"/>
            <a:ext cx="618867" cy="37844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799924" y="943599"/>
            <a:ext cx="5986914" cy="75713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GB" sz="1600" dirty="0">
                <a:latin typeface="Roboto Mono Medium" panose="020B0604020202020204" charset="0"/>
                <a:ea typeface="Roboto Mono Medium" panose="020B0604020202020204" charset="0"/>
              </a:rPr>
              <a:t>Angular templates are dynamic. When Angular renders them, it transforms the DOM according to the instructions given by </a:t>
            </a:r>
            <a:r>
              <a:rPr lang="en-GB" sz="1600" u="sng" dirty="0" smtClean="0">
                <a:latin typeface="Roboto Mono Medium" panose="020B0604020202020204" charset="0"/>
                <a:ea typeface="Roboto Mono Medium" panose="020B0604020202020204" charset="0"/>
              </a:rPr>
              <a:t>directives</a:t>
            </a:r>
            <a:r>
              <a:rPr lang="en-GB" sz="1600" dirty="0" smtClean="0">
                <a:latin typeface="Roboto Mono Medium" panose="020B0604020202020204" charset="0"/>
                <a:ea typeface="Roboto Mono Medium" panose="020B0604020202020204" charset="0"/>
              </a:rPr>
              <a:t>.</a:t>
            </a:r>
            <a:endParaRPr lang="en-GB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99923" y="1919164"/>
            <a:ext cx="5986915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A directive is a class with a  @Directive decorator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1799922" y="2585348"/>
            <a:ext cx="59869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Two other kinds of directives: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Structural</a:t>
            </a: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  directives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Attribute</a:t>
            </a: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 directives.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345" y="3583465"/>
            <a:ext cx="2795204" cy="73040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014" y="3619932"/>
            <a:ext cx="3191579" cy="68731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48367" y="4480990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5433323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1.7 Pipe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638" y="4369871"/>
            <a:ext cx="618867" cy="37844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799924" y="953224"/>
            <a:ext cx="5986914" cy="75713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Pipe is a component that allows you to process display data before it is displayed in the template.</a:t>
            </a:r>
            <a:endParaRPr lang="en-GB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032" y="3252079"/>
            <a:ext cx="4591691" cy="64779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172566" y="4395435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2032" y="2482909"/>
            <a:ext cx="4591691" cy="54077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799923" y="1919164"/>
            <a:ext cx="5986915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A directive is a class with a  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@Pipe 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decorator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22552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1.8 Service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638" y="4369871"/>
            <a:ext cx="618867" cy="37844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588168" y="953517"/>
            <a:ext cx="6374471" cy="75713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Service is a broad category encompassing any value, function, or feature that your application needs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.</a:t>
            </a:r>
            <a:endParaRPr lang="en-GB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88168" y="1701231"/>
            <a:ext cx="6374471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Component classes should be 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clean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. 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Components 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don't fetch data from the server, validate user input, or log directly to the console. </a:t>
            </a:r>
            <a:r>
              <a:rPr lang="en-US" sz="1600" i="1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They delegate such tasks to services.</a:t>
            </a:r>
            <a:endParaRPr lang="en-GB" i="1" u="sng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88168" y="2878891"/>
            <a:ext cx="33014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A service in Angular is defined with </a:t>
            </a: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@Injectable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 decorator</a:t>
            </a:r>
            <a:endParaRPr lang="en-US" sz="1600" u="sng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252" y="2679959"/>
            <a:ext cx="3489983" cy="171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355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1.9 Dependency Injection (DI)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1655544" y="966769"/>
            <a:ext cx="6112043" cy="75713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Dependency injection is a way to supply a new instance of a class with the dependencies it requires. Most dependencies are services. </a:t>
            </a:r>
            <a:endParaRPr lang="en-GB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55544" y="1931440"/>
            <a:ext cx="61120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Angular uses dependency injection to provide new components with the services they need.</a:t>
            </a:r>
            <a:endParaRPr lang="en-GB" dirty="0"/>
          </a:p>
        </p:txBody>
      </p:sp>
      <p:pic>
        <p:nvPicPr>
          <p:cNvPr id="1026" name="Picture 2" descr="Serv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442" y="4094919"/>
            <a:ext cx="1292483" cy="581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rvi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562" y="2535630"/>
            <a:ext cx="4304165" cy="195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614547" y="3787142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8621812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### </a:t>
            </a:r>
            <a:r>
              <a:rPr lang="en-US" dirty="0"/>
              <a:t>Exercise 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498262" y="924467"/>
            <a:ext cx="6433931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2000" dirty="0" smtClean="0">
                <a:latin typeface="Roboto Mono Medium" panose="020B0604020202020204" charset="0"/>
                <a:ea typeface="Roboto Mono Medium" panose="020B0604020202020204" charset="0"/>
              </a:rPr>
              <a:t>User management</a:t>
            </a:r>
            <a:endParaRPr lang="en-US" sz="20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651" y="4042610"/>
            <a:ext cx="388778" cy="656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19382" y="241786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498262" y="1422604"/>
            <a:ext cx="7154851" cy="76944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/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Setup 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environment: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Angular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CLI: 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15.2.1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(</a:t>
            </a:r>
            <a:r>
              <a:rPr lang="en-US" dirty="0" err="1">
                <a:latin typeface="Roboto Mono Medium" panose="020B0604020202020204" charset="0"/>
                <a:ea typeface="Roboto Mono Medium" panose="020B0604020202020204" charset="0"/>
              </a:rPr>
              <a:t>npm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 install -g @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angular/cli@^14.0.6)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Node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: &gt;= 16.19.0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8262" y="3101255"/>
            <a:ext cx="7154851" cy="98488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/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Start app: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Step 1: </a:t>
            </a:r>
            <a:r>
              <a:rPr lang="en-US" dirty="0" err="1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npm</a:t>
            </a:r>
            <a:r>
              <a:rPr lang="en-US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 install 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to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install the dependencies </a:t>
            </a:r>
            <a:endParaRPr lang="en-US" dirty="0" smtClean="0">
              <a:latin typeface="Roboto Mono Medium" panose="020B0604020202020204" charset="0"/>
              <a:ea typeface="Roboto Mono Medium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Step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2: </a:t>
            </a:r>
            <a:r>
              <a:rPr lang="en-US" dirty="0" err="1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npm</a:t>
            </a:r>
            <a:r>
              <a:rPr lang="en-US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run </a:t>
            </a:r>
            <a:r>
              <a:rPr lang="en-US" dirty="0" err="1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start:db</a:t>
            </a:r>
            <a:r>
              <a:rPr lang="en-US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to run the database </a:t>
            </a:r>
            <a:endParaRPr lang="en-US" dirty="0" smtClean="0">
              <a:latin typeface="Roboto Mono Medium" panose="020B0604020202020204" charset="0"/>
              <a:ea typeface="Roboto Mono Medium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Step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3: </a:t>
            </a:r>
            <a:r>
              <a:rPr lang="en-US" dirty="0" err="1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npm</a:t>
            </a:r>
            <a:r>
              <a:rPr lang="en-US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 start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 to start the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8260" y="2398612"/>
            <a:ext cx="68660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Repository: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Roboto Mono Medium" panose="020B0604020202020204" charset="0"/>
                <a:ea typeface="Roboto Mono Medium" panose="020B0604020202020204" charset="0"/>
              </a:rPr>
              <a:t>Gitlab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: </a:t>
            </a:r>
            <a:r>
              <a:rPr lang="en-US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https://</a:t>
            </a:r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gitlab.tma.com.vn/angular/angular-exercise</a:t>
            </a:r>
            <a:endParaRPr lang="en-US" u="sng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4025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3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pic>
        <p:nvPicPr>
          <p:cNvPr id="346" name="Google Shape;346;p51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2094871" y="2830930"/>
            <a:ext cx="4963852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Routing &amp; Navigation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58552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2. </a:t>
            </a:r>
            <a:r>
              <a:rPr lang="en-US" dirty="0" smtClean="0"/>
              <a:t>Routing &amp; Navigation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645920" y="2643450"/>
            <a:ext cx="6159804" cy="7571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Learn 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how to access and get route 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information</a:t>
            </a:r>
            <a:endParaRPr lang="en-US" sz="1600" dirty="0">
              <a:latin typeface="Roboto Mono Medium" panose="020B0604020202020204" charset="0"/>
              <a:ea typeface="Roboto Mono Medium" panose="020B0604020202020204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Snapshot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Query </a:t>
            </a: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parameters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724" y="3941118"/>
            <a:ext cx="1006250" cy="810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45920" y="981238"/>
            <a:ext cx="6378271" cy="5355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Routing </a:t>
            </a:r>
            <a:r>
              <a:rPr lang="en-US" sz="1600" dirty="0" err="1">
                <a:latin typeface="Roboto Mono Medium" panose="020B0604020202020204" charset="0"/>
                <a:ea typeface="Roboto Mono Medium" panose="020B0604020202020204" charset="0"/>
              </a:rPr>
              <a:t>params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 is a way to pass parameters between components via URL. 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3815903"/>
            <a:ext cx="4857435" cy="5355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And 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how 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to 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protect 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routes (Guard)</a:t>
            </a:r>
            <a:endParaRPr lang="en-US" sz="1600" dirty="0">
              <a:latin typeface="Roboto Mono Medium" panose="020B0604020202020204" charset="0"/>
              <a:ea typeface="Roboto Mono Medium" panose="020B0604020202020204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err="1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CanActivate</a:t>
            </a:r>
            <a:endParaRPr lang="en-US" sz="1600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45920" y="1683187"/>
            <a:ext cx="6378271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When a URL is accessed, Angular Router will identify that URL and return the corresponding Component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47" y="2811015"/>
            <a:ext cx="2900377" cy="206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0115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1" y="303520"/>
            <a:ext cx="668366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2.1 How to ac</a:t>
            </a:r>
            <a:r>
              <a:rPr lang="en-US" dirty="0" err="1" smtClean="0"/>
              <a:t>cess</a:t>
            </a:r>
            <a:r>
              <a:rPr lang="en-US" dirty="0" smtClean="0"/>
              <a:t> get routes information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724" y="3941118"/>
            <a:ext cx="1006250" cy="8102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515978" y="951134"/>
            <a:ext cx="6488333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latin typeface="Roboto Mono Medium" panose="020B0604020202020204" charset="0"/>
                <a:ea typeface="Roboto Mono Medium" panose="020B0604020202020204" charset="0"/>
              </a:rPr>
              <a:t>Snapshot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: </a:t>
            </a:r>
            <a:endParaRPr lang="en-US" sz="1600" dirty="0" smtClean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35228" y="1455371"/>
            <a:ext cx="6771374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If the URL is 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“user/123",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where "123" is the id of the user, Angular Router will extract the value "123" and pass it to the corresponding Component.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351" y="2204209"/>
            <a:ext cx="4553585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35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1" y="303520"/>
            <a:ext cx="668366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2.1 How to ac</a:t>
            </a:r>
            <a:r>
              <a:rPr lang="en-US" dirty="0" err="1" smtClean="0"/>
              <a:t>cess</a:t>
            </a:r>
            <a:r>
              <a:rPr lang="en-US" dirty="0" smtClean="0"/>
              <a:t> get routes information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724" y="3941118"/>
            <a:ext cx="1006250" cy="8102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515978" y="951134"/>
            <a:ext cx="6488333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b="1" dirty="0" smtClean="0">
                <a:latin typeface="Roboto Mono Medium" panose="020B0604020202020204" charset="0"/>
                <a:ea typeface="Roboto Mono Medium" panose="020B0604020202020204" charset="0"/>
              </a:rPr>
              <a:t>Query </a:t>
            </a:r>
            <a:r>
              <a:rPr lang="en-US" sz="1600" b="1" dirty="0" err="1" smtClean="0">
                <a:latin typeface="Roboto Mono Medium" panose="020B0604020202020204" charset="0"/>
                <a:ea typeface="Roboto Mono Medium" panose="020B0604020202020204" charset="0"/>
              </a:rPr>
              <a:t>params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: 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5228" y="1474621"/>
            <a:ext cx="6771374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For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example "/</a:t>
            </a:r>
            <a:r>
              <a:rPr lang="en-US" dirty="0" err="1" smtClean="0">
                <a:latin typeface="Roboto Mono Medium" panose="020B0604020202020204" charset="0"/>
                <a:ea typeface="Roboto Mono Medium" panose="020B0604020202020204" charset="0"/>
              </a:rPr>
              <a:t>user?id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=1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", "id" is the name of the parameter and "1" is the value of that parameter.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5228" y="1945127"/>
            <a:ext cx="6540368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To get the parameter's value from the URL, you can use the </a:t>
            </a:r>
            <a:r>
              <a:rPr lang="en-US" dirty="0" err="1">
                <a:latin typeface="Roboto Mono Medium" panose="020B0604020202020204" charset="0"/>
                <a:ea typeface="Roboto Mono Medium" panose="020B0604020202020204" charset="0"/>
              </a:rPr>
              <a:t>ActivatedRoute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 object 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and </a:t>
            </a:r>
            <a:r>
              <a:rPr lang="en-US" dirty="0" err="1" smtClean="0">
                <a:latin typeface="Roboto Mono Medium" panose="020B0604020202020204" charset="0"/>
                <a:ea typeface="Roboto Mono Medium" panose="020B0604020202020204" charset="0"/>
              </a:rPr>
              <a:t>snapshot.queryParamMap.get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('id')</a:t>
            </a:r>
            <a:endParaRPr lang="en-US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409" y="2678052"/>
            <a:ext cx="2940970" cy="1426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173" y="2678053"/>
            <a:ext cx="3200423" cy="142651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04239" y="4414716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158768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1" y="303520"/>
            <a:ext cx="668366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2.2 How to p</a:t>
            </a:r>
            <a:r>
              <a:rPr lang="en-US" dirty="0" err="1" smtClean="0"/>
              <a:t>rotect</a:t>
            </a:r>
            <a:r>
              <a:rPr lang="en-US" dirty="0" smtClean="0"/>
              <a:t> routes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724" y="3941118"/>
            <a:ext cx="1006250" cy="8102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578544" y="952743"/>
            <a:ext cx="6227180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To protect the Router from unauthorized access, Angular provides many security mechanisms including Authentication, Authorization and Guard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578544" y="1880238"/>
            <a:ext cx="6227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Guard ensure 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that only users with access rights are allowed to access protected routes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695" y="2422595"/>
            <a:ext cx="4395664" cy="229989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04239" y="4414716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6859403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</a:t>
            </a:r>
            <a:endParaRPr dirty="0"/>
          </a:p>
        </p:txBody>
      </p:sp>
      <p:pic>
        <p:nvPicPr>
          <p:cNvPr id="346" name="Google Shape;346;p51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2094871" y="2830930"/>
            <a:ext cx="4963852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Form &amp; Validation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83078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3. </a:t>
            </a:r>
            <a:r>
              <a:rPr lang="en-US" dirty="0" smtClean="0"/>
              <a:t>Forms &amp; Validation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694046" y="957284"/>
            <a:ext cx="6487428" cy="7571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Forms in Angular is a feature that allows users to enter data into fields on  your website. </a:t>
            </a:r>
            <a:endParaRPr lang="en-US" sz="1600" dirty="0" smtClean="0">
              <a:latin typeface="Roboto Mono Medium" panose="020B0604020202020204" charset="0"/>
              <a:ea typeface="Roboto Mono Medium" panose="020B0604020202020204" charset="0"/>
            </a:endParaRPr>
          </a:p>
          <a:p>
            <a:pPr lvl="0">
              <a:lnSpc>
                <a:spcPct val="90000"/>
              </a:lnSpc>
            </a:pP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717" y="4265268"/>
            <a:ext cx="675771" cy="48231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694046" y="1685539"/>
            <a:ext cx="4572000" cy="9787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Forms in Angular include 3 types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Template </a:t>
            </a: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driven-form</a:t>
            </a:r>
            <a:endParaRPr lang="en-US" sz="1600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Reactive form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Type form (v14)</a:t>
            </a:r>
          </a:p>
        </p:txBody>
      </p:sp>
    </p:spTree>
    <p:extLst>
      <p:ext uri="{BB962C8B-B14F-4D97-AF65-F5344CB8AC3E}">
        <p14:creationId xmlns:p14="http://schemas.microsoft.com/office/powerpoint/2010/main" val="35142400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3.1 Template driven-from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588169" y="952580"/>
            <a:ext cx="6487428" cy="5355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Angular template-driven form is commonly used for simple or small-scale application</a:t>
            </a: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711" y="4011505"/>
            <a:ext cx="1116187" cy="7105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722" y="1811130"/>
            <a:ext cx="2998387" cy="96411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577722" y="3034913"/>
            <a:ext cx="2869696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use </a:t>
            </a:r>
            <a:r>
              <a:rPr lang="en-US" dirty="0" err="1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ngModel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 to build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722" y="3321145"/>
            <a:ext cx="2547492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store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 data in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8287" y="1786496"/>
            <a:ext cx="4162808" cy="2076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577722" y="3619574"/>
            <a:ext cx="2547492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validation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in template</a:t>
            </a:r>
          </a:p>
        </p:txBody>
      </p:sp>
      <p:sp>
        <p:nvSpPr>
          <p:cNvPr id="2" name="Rectangle 1"/>
          <p:cNvSpPr/>
          <p:nvPr/>
        </p:nvSpPr>
        <p:spPr>
          <a:xfrm>
            <a:off x="7076915" y="4366773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2692111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3.1 Reactive from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617044" y="952580"/>
            <a:ext cx="6487428" cy="5355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The angular reactive form is used for Validators and handles complex situations.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711" y="4011505"/>
            <a:ext cx="1116187" cy="7105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943" y="1501363"/>
            <a:ext cx="5397627" cy="275935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81502" y="4311753"/>
            <a:ext cx="4158511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use </a:t>
            </a:r>
            <a:r>
              <a:rPr lang="en-US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Reactive Programing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to build form</a:t>
            </a:r>
          </a:p>
        </p:txBody>
      </p:sp>
    </p:spTree>
    <p:extLst>
      <p:ext uri="{BB962C8B-B14F-4D97-AF65-F5344CB8AC3E}">
        <p14:creationId xmlns:p14="http://schemas.microsoft.com/office/powerpoint/2010/main" val="21660303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3.1 Reactive from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617044" y="952580"/>
            <a:ext cx="6487428" cy="5355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The angular reactive form is used for Validators and handles complex situations.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711" y="4011505"/>
            <a:ext cx="1116187" cy="71053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147" y="1559241"/>
            <a:ext cx="5227222" cy="238113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64001" y="4080541"/>
            <a:ext cx="2225289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store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 data in 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model</a:t>
            </a:r>
            <a:endParaRPr lang="en-US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64001" y="4378970"/>
            <a:ext cx="2654894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validation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in 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component</a:t>
            </a:r>
            <a:endParaRPr lang="en-US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24440" y="4414264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9658107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 smtClean="0"/>
              <a:t>3. </a:t>
            </a:r>
            <a:r>
              <a:rPr lang="en-US" dirty="0" smtClean="0"/>
              <a:t>Forms &amp; Validation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694046" y="957284"/>
            <a:ext cx="6487428" cy="7571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Forms in Angular is a feature that allows users to enter data into fields on  your website. </a:t>
            </a:r>
            <a:endParaRPr lang="en-US" sz="1600" dirty="0" smtClean="0">
              <a:latin typeface="Roboto Mono Medium" panose="020B0604020202020204" charset="0"/>
              <a:ea typeface="Roboto Mono Medium" panose="020B0604020202020204" charset="0"/>
            </a:endParaRPr>
          </a:p>
          <a:p>
            <a:pPr lvl="0">
              <a:lnSpc>
                <a:spcPct val="90000"/>
              </a:lnSpc>
            </a:pP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717" y="4265268"/>
            <a:ext cx="675771" cy="48231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1809548" y="2772075"/>
          <a:ext cx="5800827" cy="1840972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933609">
                  <a:extLst>
                    <a:ext uri="{9D8B030D-6E8A-4147-A177-3AD203B41FA5}">
                      <a16:colId xmlns:a16="http://schemas.microsoft.com/office/drawing/2014/main" val="2724750433"/>
                    </a:ext>
                  </a:extLst>
                </a:gridCol>
                <a:gridCol w="1933609">
                  <a:extLst>
                    <a:ext uri="{9D8B030D-6E8A-4147-A177-3AD203B41FA5}">
                      <a16:colId xmlns:a16="http://schemas.microsoft.com/office/drawing/2014/main" val="1241455669"/>
                    </a:ext>
                  </a:extLst>
                </a:gridCol>
                <a:gridCol w="1933609">
                  <a:extLst>
                    <a:ext uri="{9D8B030D-6E8A-4147-A177-3AD203B41FA5}">
                      <a16:colId xmlns:a16="http://schemas.microsoft.com/office/drawing/2014/main" val="1575174165"/>
                    </a:ext>
                  </a:extLst>
                </a:gridCol>
              </a:tblGrid>
              <a:tr h="3275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Template driven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Reactive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73843"/>
                  </a:ext>
                </a:extLst>
              </a:tr>
              <a:tr h="32750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Build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err="1" smtClean="0"/>
                        <a:t>ngModel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Reactive</a:t>
                      </a:r>
                      <a:r>
                        <a:rPr lang="en-US" dirty="0" smtClean="0"/>
                        <a:t> </a:t>
                      </a:r>
                      <a:r>
                        <a:rPr lang="en-US" i="1" dirty="0" smtClean="0"/>
                        <a:t>Programing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369754"/>
                  </a:ext>
                </a:extLst>
              </a:tr>
              <a:tr h="32750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Storage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Template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Model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903829"/>
                  </a:ext>
                </a:extLst>
              </a:tr>
              <a:tr h="32750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Validation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Template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Component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214189"/>
                  </a:ext>
                </a:extLst>
              </a:tr>
              <a:tr h="530956">
                <a:tc>
                  <a:txBody>
                    <a:bodyPr/>
                    <a:lstStyle/>
                    <a:p>
                      <a:r>
                        <a:rPr lang="en-US" b="1" dirty="0" smtClean="0"/>
                        <a:t>Use</a:t>
                      </a:r>
                      <a:r>
                        <a:rPr lang="en-US" b="1" baseline="0" dirty="0" smtClean="0"/>
                        <a:t> for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Simple or small-scale application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Validators and handle complex situations.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842806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1694046" y="1685539"/>
            <a:ext cx="4572000" cy="9787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Forms in Angular include 3 types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Template </a:t>
            </a: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driven-form</a:t>
            </a:r>
            <a:endParaRPr lang="en-US" sz="1600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Reactive form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Type form (v14)</a:t>
            </a:r>
          </a:p>
        </p:txBody>
      </p:sp>
    </p:spTree>
    <p:extLst>
      <p:ext uri="{BB962C8B-B14F-4D97-AF65-F5344CB8AC3E}">
        <p14:creationId xmlns:p14="http://schemas.microsoft.com/office/powerpoint/2010/main" val="36830166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04</a:t>
            </a:r>
            <a:endParaRPr dirty="0"/>
          </a:p>
        </p:txBody>
      </p:sp>
      <p:pic>
        <p:nvPicPr>
          <p:cNvPr id="346" name="Google Shape;346;p51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2094871" y="2830930"/>
            <a:ext cx="4963852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HTTP &amp; API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44124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/>
              <a:t>4</a:t>
            </a:r>
            <a:r>
              <a:rPr lang="en" dirty="0" smtClean="0"/>
              <a:t>. </a:t>
            </a:r>
            <a:r>
              <a:rPr lang="en-US" dirty="0" smtClean="0"/>
              <a:t>HTTP &amp; API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088" y="4356615"/>
            <a:ext cx="730341" cy="3749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961" y="2857827"/>
            <a:ext cx="5024387" cy="162378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722922" y="953222"/>
            <a:ext cx="596766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Angular provides a client HTTP API for Angular applications, the </a:t>
            </a:r>
            <a:r>
              <a:rPr lang="en-US" sz="1600" dirty="0" err="1">
                <a:latin typeface="Roboto Mono Medium" panose="020B0604020202020204" charset="0"/>
                <a:ea typeface="Roboto Mono Medium" panose="020B0604020202020204" charset="0"/>
              </a:rPr>
              <a:t>HttpClient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 service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2921" y="1755929"/>
            <a:ext cx="596766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API (Application Programming Interface) is an intermediary method that connects different applications and libraries</a:t>
            </a:r>
          </a:p>
        </p:txBody>
      </p:sp>
    </p:spTree>
    <p:extLst>
      <p:ext uri="{BB962C8B-B14F-4D97-AF65-F5344CB8AC3E}">
        <p14:creationId xmlns:p14="http://schemas.microsoft.com/office/powerpoint/2010/main" val="32148883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05</a:t>
            </a:r>
            <a:endParaRPr dirty="0"/>
          </a:p>
        </p:txBody>
      </p:sp>
      <p:pic>
        <p:nvPicPr>
          <p:cNvPr id="346" name="Google Shape;346;p51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2094871" y="2830930"/>
            <a:ext cx="4963852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Testing &amp; Debugging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98921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/>
              <a:t>5</a:t>
            </a:r>
            <a:r>
              <a:rPr lang="en" dirty="0" smtClean="0"/>
              <a:t>. </a:t>
            </a:r>
            <a:r>
              <a:rPr lang="en-US" dirty="0" smtClean="0"/>
              <a:t>Testing &amp; Debugging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607419" y="972473"/>
            <a:ext cx="6439301" cy="7571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Testing in Angular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: Angular provides testing frameworks to help simplify the testing process, including Karma, Jasmine or 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Jest</a:t>
            </a:r>
            <a:endParaRPr lang="en-US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819" y="2524426"/>
            <a:ext cx="4194681" cy="22692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968" y="4172329"/>
            <a:ext cx="635415" cy="5732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07419" y="1926726"/>
            <a:ext cx="6439301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Debugging in Angular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: When developing Angular applications, debugging is an indispensable part</a:t>
            </a:r>
          </a:p>
        </p:txBody>
      </p:sp>
    </p:spTree>
    <p:extLst>
      <p:ext uri="{BB962C8B-B14F-4D97-AF65-F5344CB8AC3E}">
        <p14:creationId xmlns:p14="http://schemas.microsoft.com/office/powerpoint/2010/main" val="42051026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06</a:t>
            </a:r>
            <a:endParaRPr dirty="0"/>
          </a:p>
        </p:txBody>
      </p:sp>
      <p:pic>
        <p:nvPicPr>
          <p:cNvPr id="346" name="Google Shape;346;p51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2094871" y="2830930"/>
            <a:ext cx="4963852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Performance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34930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/>
              <a:t>6. </a:t>
            </a:r>
            <a:r>
              <a:rPr lang="en-US" dirty="0"/>
              <a:t>Performance 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623391" y="956871"/>
            <a:ext cx="6433931" cy="5355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Improving 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the performance of an Angular application is important because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:</a:t>
            </a:r>
            <a:endParaRPr lang="en-US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651" y="4042610"/>
            <a:ext cx="388778" cy="656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19382" y="241786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623389" y="3601113"/>
            <a:ext cx="6433931" cy="97872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Some 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ways to improve performance in Angular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Use </a:t>
            </a: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lazy loading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Use </a:t>
            </a:r>
            <a:r>
              <a:rPr lang="en-US" sz="1600" dirty="0" err="1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trackBy</a:t>
            </a: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  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Use </a:t>
            </a:r>
            <a:r>
              <a:rPr lang="en-US" sz="1600" dirty="0" err="1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ChangeDetectionStrategy</a:t>
            </a:r>
            <a:endParaRPr lang="en-US" sz="1600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23390" y="1446020"/>
            <a:ext cx="6433931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Improve 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user experience: If your app runs slow, users won't have a good experience and may abandon your app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.</a:t>
            </a:r>
            <a:endParaRPr lang="en-US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23390" y="2163816"/>
            <a:ext cx="651344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Increased 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reliability: If your application runs slow or crashes, it can cause errors and reduce product reliability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.</a:t>
            </a:r>
            <a:endParaRPr lang="en-US" sz="16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23389" y="2867408"/>
            <a:ext cx="64339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Competition</a:t>
            </a:r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: help your product stand out and compete better in the market.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88214" y="4391333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5111888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3" grpId="0"/>
      <p:bldP spid="5" grpId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8"/>
          <p:cNvSpPr txBox="1">
            <a:spLocks noGrp="1"/>
          </p:cNvSpPr>
          <p:nvPr>
            <p:ph type="title"/>
          </p:nvPr>
        </p:nvSpPr>
        <p:spPr>
          <a:xfrm>
            <a:off x="2493091" y="1854312"/>
            <a:ext cx="4683959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 smtClean="0">
                <a:solidFill>
                  <a:schemeClr val="accent2"/>
                </a:solidFill>
              </a:rPr>
              <a:t>Thanks you!!!</a:t>
            </a:r>
            <a:endParaRPr sz="5400" dirty="0">
              <a:solidFill>
                <a:schemeClr val="accent2"/>
              </a:solidFill>
            </a:endParaRPr>
          </a:p>
        </p:txBody>
      </p:sp>
      <p:pic>
        <p:nvPicPr>
          <p:cNvPr id="651" name="Google Shape;651;p68"/>
          <p:cNvPicPr preferRelativeResize="0"/>
          <p:nvPr/>
        </p:nvPicPr>
        <p:blipFill rotWithShape="1">
          <a:blip r:embed="rId3">
            <a:alphaModFix amt="78000"/>
          </a:blip>
          <a:srcRect l="19967"/>
          <a:stretch/>
        </p:blipFill>
        <p:spPr>
          <a:xfrm rot="3044709">
            <a:off x="2397403" y="714063"/>
            <a:ext cx="1470368" cy="75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4917" y="2991312"/>
            <a:ext cx="2610150" cy="3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2793</TotalTime>
  <Words>1033</Words>
  <Application>Microsoft Office PowerPoint</Application>
  <PresentationFormat>On-screen Show (16:9)</PresentationFormat>
  <Paragraphs>188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Concert One</vt:lpstr>
      <vt:lpstr>Arial</vt:lpstr>
      <vt:lpstr>Roboto Mono Medium</vt:lpstr>
      <vt:lpstr>Coming Soon</vt:lpstr>
      <vt:lpstr>Notebook Lesson by Slidesgo</vt:lpstr>
      <vt:lpstr> ANGULAR         FRAMEWORK</vt:lpstr>
      <vt:lpstr>What is Angular?</vt:lpstr>
      <vt:lpstr>The learning process</vt:lpstr>
      <vt:lpstr>01</vt:lpstr>
      <vt:lpstr>1. Architecture</vt:lpstr>
      <vt:lpstr>1.1 Module</vt:lpstr>
      <vt:lpstr>1.2 Component</vt:lpstr>
      <vt:lpstr>1.3 Metadata</vt:lpstr>
      <vt:lpstr>1.4 Template</vt:lpstr>
      <vt:lpstr>1.5 Data binding</vt:lpstr>
      <vt:lpstr>1.5.1 Component Interaction</vt:lpstr>
      <vt:lpstr>1.6 Directive</vt:lpstr>
      <vt:lpstr>1.7 Pipe</vt:lpstr>
      <vt:lpstr>1.8 Service</vt:lpstr>
      <vt:lpstr>1.9 Dependency Injection (DI)</vt:lpstr>
      <vt:lpstr>### Exercise </vt:lpstr>
      <vt:lpstr>02</vt:lpstr>
      <vt:lpstr>2. Routing &amp; Navigation</vt:lpstr>
      <vt:lpstr>2.1 How to access get routes information</vt:lpstr>
      <vt:lpstr>2.1 How to access get routes information</vt:lpstr>
      <vt:lpstr>2.2 How to protect routes</vt:lpstr>
      <vt:lpstr>03</vt:lpstr>
      <vt:lpstr>3. Forms &amp; Validation</vt:lpstr>
      <vt:lpstr>3.1 Template driven-from</vt:lpstr>
      <vt:lpstr>3.1 Reactive from</vt:lpstr>
      <vt:lpstr>3.1 Reactive from</vt:lpstr>
      <vt:lpstr>3. Forms &amp; Validation</vt:lpstr>
      <vt:lpstr>04</vt:lpstr>
      <vt:lpstr>4. HTTP &amp; API</vt:lpstr>
      <vt:lpstr>05</vt:lpstr>
      <vt:lpstr>5. Testing &amp; Debugging</vt:lpstr>
      <vt:lpstr>06</vt:lpstr>
      <vt:lpstr>6. Performance </vt:lpstr>
      <vt:lpstr>Thanks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        FRAMEWORK</dc:title>
  <dc:creator>Sơn Nguyễn</dc:creator>
  <cp:lastModifiedBy>Sơn Nguyễn</cp:lastModifiedBy>
  <cp:revision>472</cp:revision>
  <dcterms:modified xsi:type="dcterms:W3CDTF">2023-03-14T05:33:47Z</dcterms:modified>
</cp:coreProperties>
</file>